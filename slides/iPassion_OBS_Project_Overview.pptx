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เปิดด้วยประโยคเดียว: ทุกเดือนเราต้องวางบิลค่าจ้างพนักงานที่ไปนั่งทำงานที่ออฟฟิศลูกค้า ระบบนี้รับงานเอกสารทั้งหมดไปทำแทน เหลือให้คนแค่ตรวจกับกดส่ง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ถ้ามีเวลาแค่ 1 นาที ให้ดูหน้านี้หน้าเดียว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ข้อนี้คือขอบเขตที่สั่งไว้ตรงตัว ไม่มีเพิ่มไม่มีลด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นี่คือจุดที่ผมเคยจับได้ว่าเอกสารสรุปของ Gemini เข้าใจผิด เพราะไปคิดเป็น manday x เรทรายวัน ซึ่งยอดไม่ตรงกับใบจริง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n8n เตรียมไว้ 2 ไฟล์ พร้อม import: ไฟล์แรกรับอีเมล ไฟล์ที่สองตั้งเวลาเช็ครายวัน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iPassion Co., Ltd.  ·  เครื่องมือภายในฝ่ายบัญชี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ระบบวางบิล Outsource อัตโนมัติ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2487168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Outsource Billing System  (OBS)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352044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371246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อ่านอีเมล Timesheet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352044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371246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3520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Manday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4768" y="352044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27648" y="371246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3520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วางบิล FlowAccount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33688" y="3520440"/>
            <a:ext cx="2578608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116568" y="3712464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64040" y="3520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ร่างอีเมลถึงลูกค้า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6268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สรุปโปรเจคสำหรับผู้ที่ยังไม่เคยเห็นระบบ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598932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กรกฎาคม 2569  ·  ลูกค้าตัวอย่าง: บริษัท ไทยประกันชีวิต จำกัด (มหาชน)  ·  สัญญา จซ.002/2569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ระบบนี้ทำอะไร — สรุปในหนึ่งหน้า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อ่านหน้านี้หน้าเดียวก็เห็นภาพรวมทั้งหมด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1572768"/>
          </a:xfrm>
          <a:prstGeom prst="roundRect">
            <a:avLst>
              <a:gd name="adj" fmla="val 2907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700784"/>
            <a:ext cx="10415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ทุกเดือน iPassion ต้องวางบิลค่าจ้างพนักงาน Outsource ที่ไปนั่งทำงานอยู่ที่ออฟฟิศลูกค้า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10415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เดิมทีต้องเปิดอีเมลรอ Timesheet ของแต่ละคน นับวันทำงานเทียบปฏิทินเอง คิดส่วนลดวันลา บวก VAT หักภาษี ณ ที่จ่าย แล้วคีย์เข้าโปรแกรมบัญชี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ระบบนี้รับช่วงงานเอกสารทั้งหมดตั้งแต่อีเมลเข้ามา จนถึงร่างใบแจ้งหนี้และร่างอีเมลวางไว้ให้ — เหลือให้คนทำแค่ตรวจ เซ็น และกดส่ง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310128"/>
            <a:ext cx="2679192" cy="1874520"/>
          </a:xfrm>
          <a:prstGeom prst="roundRect">
            <a:avLst>
              <a:gd name="adj" fmla="val 2439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3493008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04088" y="42976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ขั้นตอนที่ระบบรับไปทำแทน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47365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จากอีเมลถึงร่างใบแจ้งหนี้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01568" y="3310128"/>
            <a:ext cx="2679192" cy="1874520"/>
          </a:xfrm>
          <a:prstGeom prst="roundRect">
            <a:avLst>
              <a:gd name="adj" fmla="val 2439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3493008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538728" y="42976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จุดที่ระบบหยุดรอคน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38728" y="47365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กดอนุมัติ และกดส่งอีเมล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3310128"/>
            <a:ext cx="2679192" cy="1874520"/>
          </a:xfrm>
          <a:prstGeom prst="roundRect">
            <a:avLst>
              <a:gd name="adj" fmla="val 2439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3368" y="3493008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73368" y="42976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อีเมลที่ระบบส่งออกเอง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73368" y="47365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ร่างไว้ให้เท่านั้น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70848" y="3310128"/>
            <a:ext cx="2679192" cy="1874520"/>
          </a:xfrm>
          <a:prstGeom prst="roundRect">
            <a:avLst>
              <a:gd name="adj" fmla="val 2439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08008" y="3493008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208008" y="42976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ชุดทดสอบที่ผ่านหมด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08008" y="47365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ยอดตรงกับใบแจ้งหนี้จริง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440680"/>
            <a:ext cx="11055096" cy="749808"/>
          </a:xfrm>
          <a:prstGeom prst="roundRect">
            <a:avLst>
              <a:gd name="adj" fmla="val 609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5440680"/>
            <a:ext cx="10415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ประโยคเดียวที่ต้องจำ:  ระบบเตรียมเอกสารให้เสร็จ แต่ไม่ตัดสินใจแทนคน — ทุกใบยังต้องมีคนตรวจและกดเอง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งานเดิมทำมือทุกเดือน — และพลาดได้ทุกจุด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ปัญหาที่ทำให้ต้องมีระบบนี้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1F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47088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08176" y="168249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รออีเมล Timesheet ของแต่ละคน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8176" y="201168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ต้องคอยเปิดเมลดูว่าครบทุกคนในสัญญาหรือยัง ถ้าลืมคนใดคนหนึ่งคือวางบิลขาด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706624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1F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017520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08176" y="2852928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นับวันทำงานเทียบปฏิทินเอง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08176" y="318211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เสาร์–อาทิตย์ วันหยุดนักขัตฤกษ์ วันลา ต้องไล่ดูทีละวันทั้งเดือน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1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187952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08176" y="4023360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คิดเงินเองสี่ชั้นซ้อนกัน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08176" y="435254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ส่วนลดวันลา แล้วบวก VAT 7% แล้วหักภาษี ณ ที่จ่าย 3% — ลำดับผิดก็ยอดผิด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6903720" cy="1024128"/>
          </a:xfrm>
          <a:prstGeom prst="roundRect">
            <a:avLst>
              <a:gd name="adj" fmla="val 4464"/>
            </a:avLst>
          </a:prstGeom>
          <a:solidFill>
            <a:srgbClr val="F2F1F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358384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08176" y="5193792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คีย์เข้า FlowAccount และร่างอีเมลเอง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08176" y="552297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พิมพ์ตัวเลขผิดตัวเดียว ใบแจ้งหนี้ก็ผิดทั้งใบ และรู้ตัวตอนลูกค้าทัก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1536192"/>
            <a:ext cx="3895344" cy="4535424"/>
          </a:xfrm>
          <a:prstGeom prst="roundRect">
            <a:avLst>
              <a:gd name="adj" fmla="val 117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1810512"/>
            <a:ext cx="457200" cy="457200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46720" y="243230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ปัญหาที่แก้ยากที่สุด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6720" y="2798064"/>
            <a:ext cx="3255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คนเดียวกัน ถูกเขียนชื่อไม่เหมือนกันในเอกสารทั้ง 4 ใบ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3383280"/>
            <a:ext cx="3255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Timesheet เขียนเป็นภาษาอังกฤษ  ใบว่าจ้างเขียนเป็นภาษาไทย  ตำแหน่งงานก็เขียนไม่ตรงกันอีก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ถ้าจับคู่ผิดคน เรทเงินเดือนที่ใช้ก็ผิด และยอดผิดทั้งใบโดยที่ไม่มีอะไรฟ้อง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57058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ดูวิธีแก้ในหน้า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ขอบเขตของระบบ — 4 ขั้นตอน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นี่คือสิ่งที่ตกลงกันไว้ว่าระบบต้องทำ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770632" cy="374904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19072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225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อ่านอีเมล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Timesheet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จับอีเมลแจ้งอนุมัติทุก 30 นาที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ดึงไฟล์ PDF ที่แนบมา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อ่านตารางเวลาออกมาเป็นข้อมูล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เอาเฉพาะใบที่สถานะ "อนุมัติ"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0148" y="1481328"/>
            <a:ext cx="2770632" cy="3749040"/>
          </a:xfrm>
          <a:prstGeom prst="roundRect">
            <a:avLst>
              <a:gd name="adj" fmla="val 1650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6180" y="1719072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37261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6180" y="2395728"/>
            <a:ext cx="225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6180" y="320040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สร้างปฏิทินของเดือนนั้นขึ้นมา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เทียบวันทำงาน วันลา วันหยุด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6 ข้อ ไม่ผ่านข้อไหนบอกข้อนั้น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จับคู่ชื่อคนกับฐานข้อมูลพนักงาน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3368" y="1481328"/>
            <a:ext cx="2770632" cy="374904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719072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2395728"/>
            <a:ext cx="225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วางบิลใน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FlowAccount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คิดส่วนลดวันลา VAT และภาษีหัก ณ ที่จ่าย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สร้างเป็นร่างเท่านั้น ไม่ออกเอกสารจริง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เก็บเลขที่เอกสารกลับเข้าระบบ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ตอนนี้อยู่โหมด dry-run ยังไม่ยิงของจริง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76588" y="1481328"/>
            <a:ext cx="2770632" cy="3749040"/>
          </a:xfrm>
          <a:prstGeom prst="roundRect">
            <a:avLst>
              <a:gd name="adj" fmla="val 1650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532620" y="1719072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953262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32620" y="2395728"/>
            <a:ext cx="225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ถึงลูกค้า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32620" y="320040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เตรียมหัวเรื่องและเนื้อความให้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ใส่ยอดและรายการเอกสารที่ต้องส่ง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วางเป็นร่างไว้ ไม่ส่งออกเอง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คนอ่านทวนแล้วกดส่งเอง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486400"/>
            <a:ext cx="11055096" cy="731520"/>
          </a:xfrm>
          <a:prstGeom prst="roundRect">
            <a:avLst>
              <a:gd name="adj" fmla="val 625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6968" y="5486400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ข้อนี้คือขอบเขตที่ตกลงกันไว้ตรงตัว ไม่มีเพิ่มไม่มีลด — ทุกอย่างที่เห็นในสไลด์ถัดไปคือรายละเอียดของ 4 ข้อนี้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เดินตามงาน 1 รอบบิล — ตั้งแต่อีเมลเข้าจนบิลถึงลูกค้า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สีของป้ายบอกว่าใครทำขั้นนั้น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37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05E5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11296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อีเมลแจ้งอนุมัติเข้ามา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615184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จับอีเมลจากระบบลูกค้าทุก 30 นาที เอาเฉพาะใบที่สถานะเป็น "อนุมัติ" แล้วดึงไฟล์ PDF ออกมา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78808" y="220370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1517904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737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60336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3712" y="21031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อ่านไฟล์ PDF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53712" y="2615184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ได้วันที่มาทำงาน วันลา ชื่อ และตำแหน่ง ออกมาเป็นข้อมูลที่คิดเลขต่อได้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27848" y="220370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1517904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1737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09376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02752" y="21031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จับคู่คน แล้วตรวจ Manday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02752" y="2615184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ตอบกลับว่าครบทุกคนในรอบหรือยัง และตรวจผ่านหรือติดอะไร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3547872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37673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A85D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67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11296" y="3694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4672" y="413308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ตรวจแล้วกดอนุมัติ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" y="464515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จุดแรกที่ระบบหยุดรอคน ถ้ายังมีข้อที่ตรวจไม่ผ่าน กดไม่ได้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78808" y="4233672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15968" y="3547872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53712" y="37673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4553712" y="3767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0336" y="3694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53712" y="413308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สร้างร่างใบแจ้งหนี้ + ร่างอีเมล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53712" y="464515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FlowAccount ได้เอกสารเป็นร่าง และมีร่างอีเมลวางไว้ให้พร้อม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27848" y="4233672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65008" y="3547872"/>
            <a:ext cx="3602736" cy="1664208"/>
          </a:xfrm>
          <a:prstGeom prst="roundRect">
            <a:avLst>
              <a:gd name="adj" fmla="val 2747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02752" y="37673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A85D00"/>
          </a:solidFill>
          <a:ln/>
        </p:spPr>
      </p:sp>
      <p:sp>
        <p:nvSpPr>
          <p:cNvPr id="42" name="Text 40"/>
          <p:cNvSpPr/>
          <p:nvPr/>
        </p:nvSpPr>
        <p:spPr>
          <a:xfrm>
            <a:off x="8302752" y="3767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09376" y="3694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3D3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302752" y="413308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เซ็นเอกสาร แล้วกดส่ง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302752" y="464515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จุดที่สองที่ระบบหยุดรอคน ระบบไม่ส่งอีเมลและไม่เซ็นแทน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" y="5504688"/>
            <a:ext cx="11055096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86968" y="5504688"/>
            <a:ext cx="10415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ระบบหยุดรอคน 2 จุด และข้ามเองไม่ได้ — ถ้าไม่มีคนกดอนุมัติ จะไม่มีเอกสารเกิดขึ้นใน FlowAccount เลย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หัวใจของระบบ — สัญญานี้คิดเงินแบบเหมาเดือน ไม่ใช่นับวัน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เข้าใจหน้านี้แล้ว จะเข้าใจตัวเลขทุกตัวในระบบ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605272" cy="2697480"/>
          </a:xfrm>
          <a:prstGeom prst="roundRect">
            <a:avLst>
              <a:gd name="adj" fmla="val 1695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737360"/>
            <a:ext cx="402336" cy="402336"/>
          </a:xfrm>
          <a:prstGeom prst="ellipse">
            <a:avLst/>
          </a:prstGeom>
          <a:solidFill>
            <a:srgbClr val="605E5C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26464" y="1737360"/>
            <a:ext cx="4416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แบบที่คนมักเข้าใจผิด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2340864"/>
            <a:ext cx="502005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340864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จำนวนวันที่มาทำงาน  ×  อัตราต่อวัน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218688"/>
            <a:ext cx="5020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ฟังดูสมเหตุสมผล แต่ถ้าคิดแบบนี้ ยอดจะไม่ตรงกับใบแจ้งหนี้จริงที่ออกไปแล้ว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64808" y="1481328"/>
            <a:ext cx="5605272" cy="2697480"/>
          </a:xfrm>
          <a:prstGeom prst="roundRect">
            <a:avLst>
              <a:gd name="adj" fmla="val 169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57416" y="1737360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675741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24344" y="1737360"/>
            <a:ext cx="4416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แบบที่สัญญานี้ใช้จริง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57416" y="2340864"/>
            <a:ext cx="502005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2340864"/>
            <a:ext cx="5020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เรทรายเดือนเต็มจำนวน  −  ( วันลา × อัตราต่อวัน 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57416" y="3218688"/>
            <a:ext cx="5020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ในใบแจ้งหนี้ ช่องจำนวนจะเป็น "1 Months" เสมอ และวันลาไปโผล่เป็นช่องส่วนลด ไม่ได้ไปลดจำนวนวัน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07408"/>
            <a:ext cx="11055096" cy="1170432"/>
          </a:xfrm>
          <a:prstGeom prst="roundRect">
            <a:avLst>
              <a:gd name="adj" fmla="val 3906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553712"/>
            <a:ext cx="10323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อัตราต่อวัน  =  เรทรายเดือน  ÷  จำนวนวันทำงานมาตรฐานของเดือนนั้น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32688" y="4974336"/>
            <a:ext cx="1032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  เรทรายเดือน 52,943.93 บาท ÷ 20 วันทำงาน = 2,647.20 บาทต่อวัน  →  ลา 1 วัน หักออก 2,647.20 บาท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742432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2F1F1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5870448"/>
            <a:ext cx="402336" cy="402336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870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53312" y="5742432"/>
            <a:ext cx="10003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ตัวหารยังยืนยันไม่ได้ว่าใช้ "20 วันคงที่" หรือ "วันทำงานจริงของเดือนนั้น" — เดือน ม.ค. 2569 มี 20 วันพอดี ทำให้สองแบบให้ผลเท่ากัน  (ดูหน้า 13)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ตัวเลขจริงจากใบแจ้งหนี้ INV2026020006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รอบเดือนมกราคม 2569 · สัญญา จซ.002/2569 · ใบว่าจ้าง 26/B0113 · พนักงาน 2 คน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9144000" cy="914400"/>
        </p:xfrm>
        <a:graphic>
          <a:graphicData uri="http://schemas.openxmlformats.org/drawingml/2006/table">
            <a:tbl>
              <a:tblPr/>
              <a:tblGrid>
                <a:gridCol w="507492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จำนวนเงิน (บาท)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ค่าจ้างพนักงาน 2 คน  (เรทรายเดือนเต็มจำนวน)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176,363.93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  ส่วนลดวันลา 1 วัน  (2,647.20 × 1 วัน)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− 2,647.20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78D4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ยอดก่อนภาษี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78D4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173,716.73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บวก  ภาษีมูลค่าเพิ่ม 7%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+ 12,160.17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ยอดรวมทั้งสิ้น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185,876.90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  ภาษีหัก ณ ที่จ่าย 3%  (คิดจากยอดก่อนภาษี)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− 5,211.50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ยอดที่ลูกค้าต้องชำระ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180,665.40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138928"/>
            <a:ext cx="7360920" cy="1024128"/>
          </a:xfrm>
          <a:prstGeom prst="roundRect">
            <a:avLst>
              <a:gd name="adj" fmla="val 4464"/>
            </a:avLst>
          </a:prstGeom>
          <a:solidFill>
            <a:srgbClr val="F2F1F1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66944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 176,363.93 มาจากพนักงาน 2 คนรวมกัน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5559552"/>
            <a:ext cx="681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พงศ์พันธ์ มามาก · Developer · 52,943.93 บาท/เดือน · ลา 1 วัน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สุนีย์ มณีเกษมสุข · Senior Project Manager · 123,420.00 บาท/เดือน · ไม่มีวันลา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02168" y="1536192"/>
            <a:ext cx="3419856" cy="2011680"/>
          </a:xfrm>
          <a:prstGeom prst="roundRect">
            <a:avLst>
              <a:gd name="adj" fmla="val 227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76488" y="1773936"/>
            <a:ext cx="402336" cy="402336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12" name="Text 9"/>
          <p:cNvSpPr/>
          <p:nvPr/>
        </p:nvSpPr>
        <p:spPr>
          <a:xfrm>
            <a:off x="8476488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76488" y="22860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จุดที่พลาดกันบ่อยที่สุด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76488" y="2615184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ภาษีหัก ณ ที่จ่าย 3% คิดจากยอด "ก่อน VAT" คือ 173,716.73 ไม่ใช่จากยอดรวม 185,876.90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02168" y="3712464"/>
            <a:ext cx="3419856" cy="2450592"/>
          </a:xfrm>
          <a:prstGeom prst="roundRect">
            <a:avLst>
              <a:gd name="adj" fmla="val 1866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76488" y="39319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ตรวจทานแล้วว่าตรง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76488" y="4297680"/>
            <a:ext cx="2916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ยอดทุกบรรทัดตรงกับใบแจ้งหนี้ตัวจริง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ยอดตามใบว่าจ้าง 6 เดือน 1,058,183.58 บาท หารลงตัวพอดีเดือนละ 176,363.93 บาท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ลำดับการคิดภาษีตรงตามใบจริง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มีชุดทดสอบคุมไว้ทุกบรรทัด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ระบบตรวจให้ 6 ข้อ — ไม่ผ่านข้อไหน บอกข้อนั้น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ทุกข้อคือเรื่องที่คนเคยต้องนั่งไล่ดูเองทีละวัน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37360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170078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ผลรวมวันทำงานตรงกับปฏิทินไหม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2677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เอาตัวเลขที่เขียนสรุปไว้ในใบ มาเทียบกับจำนวนวันที่นับได้จริงจากตาราง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517904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1737360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65776" y="170078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ลาตรงวันเสาร์–อาทิตย์หรือเปล่า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22677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ถ้าเขียนว่าลาในวันที่ไม่ใช่วันทำงาน แปลว่ากรอกผิด — ไม่ควรไปหักเงิน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1517904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737360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14816" y="170078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ลาตรงวันหยุดนักขัตฤกษ์หรือเปล่า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2752" y="22677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เหตุผลเดียวกัน วันหยุดไม่ใช่วันทำงาน จึงไม่ควรถูกหักซ้ำ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236976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456432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3419856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ป้ายกำกับในตารางตรงกับที่นับไหม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3986784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บางช่องเขียนว่า Leave แต่ยังมีเวลาเข้า–ออกงานอยู่ ต้องให้คนดู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5968" y="3236976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3712" y="3456432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455371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65776" y="3419856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ตัวหารอัตราต่อวันยืนยันได้ไหม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53712" y="3986784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ถ้ายังแยกไม่ออกว่าใช้ 20 วันคงที่หรือวันทำงานจริง ระบบจะเตือนทุกครั้ง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65008" y="3236976"/>
            <a:ext cx="3602736" cy="1517904"/>
          </a:xfrm>
          <a:prstGeom prst="roundRect">
            <a:avLst>
              <a:gd name="adj" fmla="val 3012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02752" y="3456432"/>
            <a:ext cx="402336" cy="4023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14816" y="3419856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วันที่คิดเงินติดลบหรือเปล่า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02752" y="3986784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ถ้าวันลามากกว่าวันทำงานมาตรฐาน แปลว่าข้อมูลผิด ไม่ใช่ต้องคืนเงิน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084064"/>
            <a:ext cx="11055096" cy="1042416"/>
          </a:xfrm>
          <a:prstGeom prst="roundRect">
            <a:avLst>
              <a:gd name="adj" fmla="val 4386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32688" y="54315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ผลตรวจออกมา 3 ระดับ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493008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93008" y="55412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ไปต่อได้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73368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5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73368" y="55412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ไปต่อได้ แต่ให้คนอ่านก่อน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53728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20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ไม่ผ่าน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53728" y="55412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กดอนุมัติไม่ได้ จนกว่าจะแก้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วิธีแก้ปัญหาชื่อไม่ตรงกัน — จับคู่ 3 ชั้น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พนักงานคนเดียวกัน ในเอกสาร 4 ใบ เขียนไม่เหมือนกันเลย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เอกสาร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ชื่อที่เขียนไว้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ตำแหน่ง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ใบว่าจ้าง 26/B0113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พงศ์พันธ์ มามาก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Dev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ใบเสนอราคา QT2025120005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(ถูกปิดทับในเอกสาร)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Developer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Timesheet ประจำเดือน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Pongpun Mamak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Java Programmer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ใบแจ้งหนี้ INV2026020006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ไม่ระบุชื่อ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Developer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8587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เทียบข้อความแบบตรงตัวจึงใช้ไม่ได้เลย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4279392"/>
            <a:ext cx="5852160" cy="1883664"/>
          </a:xfrm>
          <a:prstGeom prst="roundRect">
            <a:avLst>
              <a:gd name="adj" fmla="val 2427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4480560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กฎที่กันความผิดพลาดไว้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9536" y="48463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ตำแหน่งที่ขึ้นบนใบแจ้งหนี้ ใช้ค่าจากฐานข้อมูลพนักงานเสมอ ไม่เอาจาก Timesheet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ถ้าจับคู่ไม่ได้เลย ระบบไม่บันทึกและไม่เดา — แจ้งให้คนไปเพิ่มชื่อพ้องก่อน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ทุกชื่อพ้องที่เก็บไว้ บันทึกด้วยว่าเจอในเอกสารใบไหน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93408" y="1536192"/>
            <a:ext cx="4928616" cy="1444752"/>
          </a:xfrm>
          <a:prstGeom prst="roundRect">
            <a:avLst>
              <a:gd name="adj" fmla="val 3165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67728" y="177393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0"/>
          <p:cNvSpPr/>
          <p:nvPr/>
        </p:nvSpPr>
        <p:spPr>
          <a:xfrm>
            <a:off x="696772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52944" y="17739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ตรงตัว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967728" y="2322576"/>
            <a:ext cx="4379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ชื่อในเอกสารตรงกับในฐานข้อมูลเป๊ะ — ใช้ได้เลย ไม่ต้องถามใคร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693408" y="3136392"/>
            <a:ext cx="4928616" cy="1444752"/>
          </a:xfrm>
          <a:prstGeom prst="roundRect">
            <a:avLst>
              <a:gd name="adj" fmla="val 3165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67728" y="337413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5"/>
          <p:cNvSpPr/>
          <p:nvPr/>
        </p:nvSpPr>
        <p:spPr>
          <a:xfrm>
            <a:off x="696772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 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52944" y="33741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ตารางชื่อพ้อง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967728" y="3922776"/>
            <a:ext cx="4379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เคยมีคนยืนยันไว้แล้วว่า "Pongpun Mamak" คือคุณพงศ์พันธ์ ระบบจำไว้ใช้ต่อ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93408" y="4736592"/>
            <a:ext cx="4928616" cy="1444752"/>
          </a:xfrm>
          <a:prstGeom prst="roundRect">
            <a:avLst>
              <a:gd name="adj" fmla="val 316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67728" y="4974336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0"/>
          <p:cNvSpPr/>
          <p:nvPr/>
        </p:nvSpPr>
        <p:spPr>
          <a:xfrm>
            <a:off x="6967728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 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52944" y="49743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สะกดใกล้เคียง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967728" y="5522976"/>
            <a:ext cx="4379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ต่างกันไม่เกิน 2 ตัวอักษร เช่น Mamaak กับ Mamak — เดาให้ แต่ขอให้คนกดยืนยันก่อน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93408" y="632764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ไล่จากชั้น 1 ลงไป เจอชั้นไหนก่อนก็ใช้ชั้นนั้น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แบ่งงานกับ n8n — เลิกทำมือทั้งกระบวนการ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รับหน้าที่จุดชนวนกับตั้งเวลา · ระบบ OBS รับหน้าที่คิดเงิน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605272" cy="2907792"/>
          </a:xfrm>
          <a:prstGeom prst="roundRect">
            <a:avLst>
              <a:gd name="adj" fmla="val 1572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19072"/>
            <a:ext cx="4946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ทำอะไร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49424"/>
            <a:ext cx="5001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จับอีเมลแจ้งอนุมัติ Timesheet ทุก 30 นาที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คัดเอาเฉพาะใบที่สถานะเป็น "อนุมัติ" จริง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ดึงไฟล์ PDF ที่แนบมาส่งเข้าระบบ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ตั้งเวลาเช็ครอบบิลทุกวันทำการ 09:00 น.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แจ้งเตือนทีมเมื่อมีอะไรค้าง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64808" y="1481328"/>
            <a:ext cx="5605272" cy="2907792"/>
          </a:xfrm>
          <a:prstGeom prst="roundRect">
            <a:avLst>
              <a:gd name="adj" fmla="val 1572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93992" y="1719072"/>
            <a:ext cx="4946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OBS ทำอะไร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93992" y="2249424"/>
            <a:ext cx="5001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อ่านตารางเวลาในไฟล์ PDF ด้วย AI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จับคู่ชื่อคนกับฐานข้อมูลพนักงาน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สร้างปฏิทินและตรวจ Manday 6 ข้อ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คิดส่วนลด VAT และภาษีหัก ณ ที่จ่าย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สร้างร่างใบแจ้งหนี้และร่างอีเมล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00016"/>
            <a:ext cx="11055096" cy="1481328"/>
          </a:xfrm>
          <a:prstGeom prst="roundRect">
            <a:avLst>
              <a:gd name="adj" fmla="val 3086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491947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ทำไมแบ่งแบบนี้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5266944"/>
            <a:ext cx="10323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กฎการคิดเงินทั้งหมดอยู่ในระบบ OBS — n8n ไม่ต้องรู้กฎเลย แค่ส่งไฟล์เข้ามาแล้วอ่านคำตอบว่าให้ทำอะไรต่อ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ถ้าวันหลังเปลี่ยนจาก n8n ไปใช้เครื่องมืออื่น หรือเปลี่ยนมาให้คนกดเอง ตัวคิดเงินไม่ต้องแก้แม้แต่บรรทัดเดียว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หน้าจอในระบบ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ทั้งหมดเป็นภาษาไทย ใช้งานผ่านเบราว์เซอร์</a:t>
            </a:r>
            <a:endParaRPr lang="en-US" sz="1250" dirty="0"/>
          </a:p>
        </p:txBody>
      </p:sp>
      <p:pic>
        <p:nvPicPr>
          <p:cNvPr id="6" name="Image 0" descr="/private/tmp/claude-501/-Users-rinradangobthaisong-Desktop-Outsource-Auto/8e1c936d-f527-4aee-bf83-a692e8c526d2/scratchpad/shots/dash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7406640" cy="4837176"/>
          </a:xfrm>
          <a:prstGeom prst="rect">
            <a:avLst/>
          </a:prstGeom>
          <a:effectLst>
            <a:outerShdw sx="100000" sy="100000" kx="0" ky="0" algn="bl" rotWithShape="0" blurRad="152400" dist="25400" dir="5400000">
              <a:srgbClr val="7A8CA0">
                <a:alpha val="2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3825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หน้าแดชบอร์ด — เห็นทั้งงานค้าง รอบบิล และยอดในหน้าเดียว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47888" y="1481328"/>
            <a:ext cx="3374136" cy="4837176"/>
          </a:xfrm>
          <a:prstGeom prst="roundRect">
            <a:avLst>
              <a:gd name="adj" fmla="val 1355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22208" y="1700784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หน้าจอ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22208" y="21762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8"/>
          <p:cNvSpPr/>
          <p:nvPr/>
        </p:nvSpPr>
        <p:spPr>
          <a:xfrm>
            <a:off x="852220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887968" y="21396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887968" y="23408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ภาพรวมทั้งหมด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22208" y="26334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2"/>
          <p:cNvSpPr/>
          <p:nvPr/>
        </p:nvSpPr>
        <p:spPr>
          <a:xfrm>
            <a:off x="8522208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87968" y="25968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กล่องงาน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887968" y="27980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สิ่งที่ต้องตรวจวันนี้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522208" y="30906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6"/>
          <p:cNvSpPr/>
          <p:nvPr/>
        </p:nvSpPr>
        <p:spPr>
          <a:xfrm>
            <a:off x="852220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887968" y="30540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รอบบิล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887968" y="32552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แต่ละเดือนอยู่ขั้นไหน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522208" y="35478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0"/>
          <p:cNvSpPr/>
          <p:nvPr/>
        </p:nvSpPr>
        <p:spPr>
          <a:xfrm>
            <a:off x="8522208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887968" y="35112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ใบแจ้งหนี้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887968" y="37124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เอกสารที่สร้างไปแล้ว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522208" y="40050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7" name="Text 24"/>
          <p:cNvSpPr/>
          <p:nvPr/>
        </p:nvSpPr>
        <p:spPr>
          <a:xfrm>
            <a:off x="8522208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87968" y="39684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887968" y="41696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ดึงออกเป็นไฟล์ได้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522208" y="44622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1" name="Text 28"/>
          <p:cNvSpPr/>
          <p:nvPr/>
        </p:nvSpPr>
        <p:spPr>
          <a:xfrm>
            <a:off x="8522208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87968" y="44256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887968" y="46268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เรทและชื่อพ้อง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522208" y="49194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5" name="Text 32"/>
          <p:cNvSpPr/>
          <p:nvPr/>
        </p:nvSpPr>
        <p:spPr>
          <a:xfrm>
            <a:off x="852220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87968" y="48828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 &amp; สัญญา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887968" y="50840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ใบว่าจ้างและเงื่อนไข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522208" y="53766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9" name="Text 36"/>
          <p:cNvSpPr/>
          <p:nvPr/>
        </p:nvSpPr>
        <p:spPr>
          <a:xfrm>
            <a:off x="8522208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887968" y="53400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บันทึกการทำงาน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887968" y="55412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ใครทำอะไรไว้เมื่อไหร่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522208" y="5833872"/>
            <a:ext cx="274320" cy="2743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3" name="Text 40"/>
          <p:cNvSpPr/>
          <p:nvPr/>
        </p:nvSpPr>
        <p:spPr>
          <a:xfrm>
            <a:off x="8522208" y="5833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887968" y="579729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887968" y="599846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FlowAccount และตัวหาร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สิ่งที่ระบบไม่ทำ — ตั้งใจให้เป็นแบบนี้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ไม่ใช่ข้อจำกัด แต่เป็นเส้นที่ตกลงกันไว้ว่าคนต้องเป็นคนตัดสินใจ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770632" cy="292608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92224"/>
            <a:ext cx="475488" cy="475488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ไม่ออกเอกสารตัวจริง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054096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สร้างเป็นร่างใน FlowAccount เท่านั้น การกดอนุมัติเอกสารในระบบบัญชียังเป็นงานคน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0148" y="1554480"/>
            <a:ext cx="2770632" cy="292608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6180" y="1792224"/>
            <a:ext cx="475488" cy="475488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13" name="Text 11"/>
          <p:cNvSpPr/>
          <p:nvPr/>
        </p:nvSpPr>
        <p:spPr>
          <a:xfrm>
            <a:off x="372618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6180" y="239572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ไม่ส่งอีเมลเอง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726180" y="3054096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ร่างหัวเรื่องและเนื้อความวางไว้ให้ คนอ่านทวนแล้วกดส่งเองทุกครั้ง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73368" y="1554480"/>
            <a:ext cx="2770632" cy="292608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792224"/>
            <a:ext cx="475488" cy="475488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39572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ไม่เซ็นเอกสาร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29400" y="3054096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ลายเซ็นและตราประทับเป็นงานคน รวมถึงการนำเอกสารไปวางบิลที่อาคารลูกค้า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76588" y="1554480"/>
            <a:ext cx="2770632" cy="2926080"/>
          </a:xfrm>
          <a:prstGeom prst="roundRect">
            <a:avLst>
              <a:gd name="adj" fmla="val 165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532620" y="1792224"/>
            <a:ext cx="475488" cy="475488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23" name="Text 21"/>
          <p:cNvSpPr/>
          <p:nvPr/>
        </p:nvSpPr>
        <p:spPr>
          <a:xfrm>
            <a:off x="95326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32620" y="239572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ไม่ข้ามข้อที่ตรวจไม่ผ่าน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532620" y="3054096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ถ้ายังมีข้อไม่ผ่านค้างอยู่ กดอนุมัติไม่ได้ ระบบจะตอบกลับว่าติดอะไร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791456"/>
            <a:ext cx="11055096" cy="1371600"/>
          </a:xfrm>
          <a:prstGeom prst="roundRect">
            <a:avLst>
              <a:gd name="adj" fmla="val 3333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" y="501091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 FlowAccount อยู่ในโหมด dry-run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5358384"/>
            <a:ext cx="10323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ระบบคิดยอดและเตรียมข้อมูลครบ แต่ยังไม่ยิงเข้า FlowAccount จริง — เห็นได้ว่าจะส่งอะไรไปโดยไม่มีเอกสารเกิดขึ้น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เปลี่ยนเป็นโหมดจริงได้เมื่อเทียบชื่อฟิลด์กับเอกสาร API เรียบร้อยแล้ว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สถานะตอนนี้ — อะไรใช้ได้แล้ว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ทดสอบด้วยเอกสารจริงของสัญญา 26/B0113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2679192" cy="1700784"/>
          </a:xfrm>
          <a:prstGeom prst="roundRect">
            <a:avLst>
              <a:gd name="adj" fmla="val 268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66420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ชุดทดสอบผ่านหมด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7614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ไม่มีข้อที่ตก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517904"/>
            <a:ext cx="2679192" cy="1700784"/>
          </a:xfrm>
          <a:prstGeom prst="roundRect">
            <a:avLst>
              <a:gd name="adj" fmla="val 268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166420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38728" y="23774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n8n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38728" y="27614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 import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517904"/>
            <a:ext cx="2679192" cy="1700784"/>
          </a:xfrm>
          <a:prstGeom prst="roundRect">
            <a:avLst>
              <a:gd name="adj" fmla="val 268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166420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73368" y="23774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หน้าจอในระบบ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3368" y="27614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ภาษาไทยทั้งหมด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70848" y="1517904"/>
            <a:ext cx="2679192" cy="1700784"/>
          </a:xfrm>
          <a:prstGeom prst="roundRect">
            <a:avLst>
              <a:gd name="adj" fmla="val 268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08008" y="1664208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08008" y="23774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เอกสารจริงที่ใช้ทดสอบ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08008" y="27614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ยอดตรงทุกบรรทัด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419856"/>
            <a:ext cx="5605272" cy="2487168"/>
          </a:xfrm>
          <a:prstGeom prst="roundRect">
            <a:avLst>
              <a:gd name="adj" fmla="val 1838"/>
            </a:avLst>
          </a:prstGeom>
          <a:solidFill>
            <a:srgbClr val="F2F1F1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363931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เอกสารจริงที่ใช้ตั้งต้นระบบ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7824" y="4041648"/>
            <a:ext cx="5038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ใบว่าจ้าง 26/B0113 — เรท จำนวนเดือน และยอดรวมสัญญา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Timesheet เดือนมกราคม 2569 — ตารางเวลาและวันลาจริง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ใบเสนอราคา QT2025120005 — ตำแหน่งและเรทรายเดือน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ใบแจ้งหนี้ INV2026020006 — ใช้เทียบยอดทุกบรรทัด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4808" y="3419856"/>
            <a:ext cx="5605272" cy="2487168"/>
          </a:xfrm>
          <a:prstGeom prst="roundRect">
            <a:avLst>
              <a:gd name="adj" fmla="val 18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27000" dist="12700" dir="5400000">
              <a:srgbClr val="7A8CA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75704" y="363931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78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ทำงานได้แล้วตั้งแต่ต้นจนจบ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75704" y="4041648"/>
            <a:ext cx="5038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รับไฟล์เข้าระบบ อ่านด้วย AI จับคู่คน คิดเงิน จบในครั้งเดียว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ส่งไฟล์เดิมซ้ำได้ ไม่เกิดข้อมูลซ้ำ และไม่ทับใบที่วางบิลไปแล้ว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บอกกลับได้เองว่ารอบนี้ครบทุกคนหรือยัง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ร่างใบแจ้งหนี้และร่างอีเมลออกมาพร้อมให้ตรวจ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9888" y="402336"/>
            <a:ext cx="10232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เรื่องที่ต้องเคลียร์ก่อนใช้กับของจริง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389888" y="941832"/>
            <a:ext cx="10232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ทุกข้อเป็นข้อมูลที่ต้องยืนยันจากคนหรือจากลูกค้า ไม่ใช่งานเขียนโค้ด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E8F4F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55064"/>
            <a:ext cx="438912" cy="438912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162763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ตัวหารอัตราต่อวัน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07408" y="1572768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ม.ค. 2569 มีวันทำงาน 20 วันพอดี ทำให้ "หาร 20 คงที่" กับ "หารด้วยวันทำงานจริง" ให้ผลเท่ากัน จึงยังแยกไม่ออกว่าสัญญาใช้แบบไหน — ขอใบแจ้งหนี้อีกเดือนที่วันทำงานไม่ใช่ 20 วันมาเทียบ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E8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551176"/>
            <a:ext cx="438912" cy="438912"/>
          </a:xfrm>
          <a:prstGeom prst="ellipse">
            <a:avLst/>
          </a:prstGeom>
          <a:solidFill>
            <a:srgbClr val="A85D0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252374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ชื่อฟิลด์ของ FlowAccount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07408" y="2468880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ตอนนี้ตั้งจากรูปแบบเอกสารจริง แต่ยังไม่ได้เทียบกับเอกสาร API ทีละฟิลด์ — ถ้าเปลี่ยนไปยิงของจริงเลย เอกสารจะสร้างไม่สำเร็จ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273552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2F1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447288"/>
            <a:ext cx="438912" cy="43891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341985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ปฏิทินวันหยุด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07408" y="3364992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ยืนยันได้แค่วันที่ 1–2 ม.ค. 2569 จาก Timesheet จริง ที่เหลือใส่ตามวันหยุดราชการทั่วไป — ต้องขอปฏิทินของบริษัทลูกค้า เพราะกระทบวันทำงานมาตรฐานโดยตรง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9664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2F1F1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4343400"/>
            <a:ext cx="438912" cy="43891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89888" y="43159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เงื่อนไขประเภทการลา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07408" y="4261104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ตอนนี้หักเงินทุกประเภทเท่ากันหมด ยังไม่ยืนยันว่าลาป่วย ลากิจ และลาพักร้อน หักเหมือนกันตามสัญญาหรือไม่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065776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2F1F1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" y="5239512"/>
            <a:ext cx="438912" cy="43891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89888" y="521208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Reference ในใบแจ้งหนี้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07408" y="5157216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ใบจริงเว้นว่างไว้ แต่เอกสารออกแบบระบุว่าควรใส่เลขใบเสนอราคา — ต้องเลือกอย่างใดอย่างหนึ่งให้ชัด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10819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A85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1 และ 2 (พื้นฟ้า) คือสองข้อที่ต้องเคลียร์ก่อนเปลี่ยนออกจากโหมด dry-run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53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412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ระบบพร้อมใช้แล้ว เหลือข้อมูลอีก 3 อย่าง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685032" cy="2148840"/>
          </a:xfrm>
          <a:prstGeom prst="roundRect">
            <a:avLst>
              <a:gd name="adj" fmla="val 255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542032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1821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ใบแจ้งหนี้อีก 1 เดือน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712464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ขอเดือนที่วันทำงานไม่ใช่ 20 วัน เพื่อยืนยันว่าอัตราต่อวันหารด้วยอะไร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2286000"/>
            <a:ext cx="3685032" cy="2148840"/>
          </a:xfrm>
          <a:prstGeom prst="roundRect">
            <a:avLst>
              <a:gd name="adj" fmla="val 255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2542032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31821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API ของ FlowAccount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6864" y="3712464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Postman Collection หรือคู่มือ เพื่อเทียบชื่อฟิลด์ก่อนยิงของจริง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685032" cy="2148840"/>
          </a:xfrm>
          <a:prstGeom prst="roundRect">
            <a:avLst>
              <a:gd name="adj" fmla="val 255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542032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1821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ปฏิทินวันหยุดของลูกค้า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712464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เพราะจำนวนวันทำงานมาตรฐานมาจากปฏิทินนี้โดยตรง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79145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ทั้งสามอย่างเป็นข้อมูล ไม่ใช่งานพัฒนา — ได้มาแล้วเปลี่ยนเป็นโหมดใช้จริงได้ทันที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76072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ระบบวางบิล Outsource อัตโนมัติ  ·  Outsource Billing 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0899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iPassion Co., Ltd.  |  www.ipassion.co.th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iPassion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ระบบวางบิล Outsource อัตโนมัติ (OBS)</dc:title>
  <dc:subject>PptxGenJS Presentation</dc:subject>
  <dc:creator>iPassion Co., Ltd.</dc:creator>
  <cp:lastModifiedBy>iPassion Co., Ltd.</cp:lastModifiedBy>
  <cp:revision>1</cp:revision>
  <dcterms:created xsi:type="dcterms:W3CDTF">2026-07-28T05:04:22Z</dcterms:created>
  <dcterms:modified xsi:type="dcterms:W3CDTF">2026-07-28T05:04:22Z</dcterms:modified>
</cp:coreProperties>
</file>