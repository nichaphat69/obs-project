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เด็คนี้แบ่ง 3 ตอน: ที่มาของระบบ · ขั้นตอนการทำงานจริง · สิ่งที่เหลือและแผนต่อไป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ย้ำว่าระบบไม่ได้แทนคน — ทุกใบยังต้องผ่านสายตาและการกดยืนยันของเจ้าหน้าที่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จุดขายของระบบคือ “หยุดรอคนเสมอ” — ไม่มีเอกสารใบไหนถูกส่งออกโดยไม่มีคนเห็น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เน้นว่า 4 ใน 5 ข้อที่เหลือเป็นการรอข้อมูลยืนยัน ไม่ใช่งานพัฒนา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3.png"/><Relationship Id="rId6" Type="http://schemas.openxmlformats.org/officeDocument/2006/relationships/image" Target="../media/image-8-6.png"/><Relationship Id="rId7" Type="http://schemas.openxmlformats.org/officeDocument/2006/relationships/image" Target="../media/image-8-3.png"/><Relationship Id="rId8" Type="http://schemas.openxmlformats.org/officeDocument/2006/relationships/image" Target="../media/image-8-8.png"/><Relationship Id="rId9" Type="http://schemas.openxmlformats.org/officeDocument/2006/relationships/image" Target="../media/image-8-3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cutemark-Desktop-outsource-auto/c9418d35-07ec-440b-9fb8-2360d5ee2185/scratchpad/deck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1700784" cy="539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084832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ระบบวางบิล Outsource อัตโนมัติ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58368" y="290779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FC3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Outsource Billing System — OBS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58368" y="35844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EF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 Timesheet ด้วย AI  →  ตรวจ Manday  →  สร้างร่างใบวางบิลใน FlowAccount  →  ร่างอีเมลถึงลูกค้า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58368" y="4590288"/>
            <a:ext cx="2578608" cy="566928"/>
          </a:xfrm>
          <a:prstGeom prst="roundRect">
            <a:avLst>
              <a:gd name="adj" fmla="val 12903"/>
            </a:avLst>
          </a:prstGeom>
          <a:solidFill>
            <a:srgbClr val="0E4C7D"/>
          </a:solidFill>
          <a:ln w="12700">
            <a:solidFill>
              <a:srgbClr val="175E9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45902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9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   ปูบริบทของระบบ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56432" y="4590288"/>
            <a:ext cx="2578608" cy="566928"/>
          </a:xfrm>
          <a:prstGeom prst="roundRect">
            <a:avLst>
              <a:gd name="adj" fmla="val 12903"/>
            </a:avLst>
          </a:prstGeom>
          <a:solidFill>
            <a:srgbClr val="0E4C7D"/>
          </a:solidFill>
          <a:ln w="12700">
            <a:solidFill>
              <a:srgbClr val="175E9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39312" y="45902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9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   ขั้นตอน &amp; การทำงาน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4590288"/>
            <a:ext cx="2578608" cy="566928"/>
          </a:xfrm>
          <a:prstGeom prst="roundRect">
            <a:avLst>
              <a:gd name="adj" fmla="val 12903"/>
            </a:avLst>
          </a:prstGeom>
          <a:solidFill>
            <a:srgbClr val="0E4C7D"/>
          </a:solidFill>
          <a:ln w="12700">
            <a:solidFill>
              <a:srgbClr val="175E9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37376" y="45902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9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   แผนงานถัดไป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8368" y="5943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9C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ฝ่ายบัญชี iPassion Co., Ltd.   ·   เอกสารนำเสนอภายใน   ·   สิงหาคม 2569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สิ่งที่จะเล่าในวันนี้</a:t>
            </a:r>
            <a:endParaRPr lang="en-US" sz="3000" dirty="0"/>
          </a:p>
        </p:txBody>
      </p:sp>
      <p:pic>
        <p:nvPicPr>
          <p:cNvPr id="4" name="Image 0" descr="/private/tmp/claude-501/-Users-cutemark-Desktop-outsource-auto/c9418d35-07ec-440b-9fb8-2360d5ee2185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84048"/>
            <a:ext cx="1170432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58368" y="1700784"/>
            <a:ext cx="10874959" cy="1243584"/>
          </a:xfrm>
          <a:prstGeom prst="roundRect">
            <a:avLst>
              <a:gd name="adj" fmla="val 4412"/>
            </a:avLst>
          </a:prstGeom>
          <a:solidFill>
            <a:srgbClr val="EAF4FD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2416" y="2084832"/>
            <a:ext cx="475488" cy="475488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8" name="Image 1" descr="/private/tmp/claude-501/-Users-cutemark-Desktop-outsource-auto/c9418d35-07ec-440b-9fb8-2360d5ee2185/scratchpad/deck/asset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798" y="2213214"/>
            <a:ext cx="218724" cy="2187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19072" y="1883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395728" y="18836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ปูบริบทของระบบ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2395728" y="2322576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ระบบคืออะไร · เดิมทำงานกันยังไง · ต่างจากของใหม่ตรงไหน · สร้างด้วยอะไร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58368" y="3182112"/>
            <a:ext cx="10874959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042416" y="3566160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4" name="Image 2" descr="/private/tmp/claude-501/-Users-cutemark-Desktop-outsource-auto/c9418d35-07ec-440b-9fb8-2360d5ee2185/scratchpad/deck/asset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98" y="3694542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19072" y="33649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395728" y="33649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 &amp; การทำงาน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2395728" y="380390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เส้นทางงาน 4 ขั้น · จุดที่คนต้องกดยืนยัน · n8n กับ AI รับผิดชอบส่วนไหน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58368" y="4663440"/>
            <a:ext cx="10874959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42416" y="5047488"/>
            <a:ext cx="475488" cy="475488"/>
          </a:xfrm>
          <a:prstGeom prst="ellipse">
            <a:avLst/>
          </a:prstGeom>
          <a:solidFill>
            <a:srgbClr val="B26A00"/>
          </a:solidFill>
          <a:ln/>
        </p:spPr>
      </p:sp>
      <p:pic>
        <p:nvPicPr>
          <p:cNvPr id="20" name="Image 3" descr="/private/tmp/claude-501/-Users-cutemark-Desktop-outsource-auto/c9418d35-07ec-440b-9fb8-2360d5ee2185/scratchpad/deck/asset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798" y="5175870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19072" y="4846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6A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2395728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แผนงานถัดไป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2395728" y="528523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ทำเสร็จไปแล้วแค่ไหน · อะไรยังค้าง · ฟีเจอร์ที่เสนอทำต่อ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cutemark-Desktop-outsource-auto/c9418d35-07ec-440b-9fb8-2360d5ee2185/scratchpad/deck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84048"/>
            <a:ext cx="1170432" cy="3749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2395728"/>
            <a:ext cx="786384" cy="786384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4" name="Image 1" descr="/private/tmp/claude-501/-Users-cutemark-Desktop-outsource-auto/c9418d35-07ec-440b-9fb8-2360d5ee2185/scratchpad/deck/asset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692" y="2608052"/>
            <a:ext cx="361737" cy="3617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92224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FB4E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1792224" y="274320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ปูบริบทของระบบ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1792224" y="352958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D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ระบบนี้คืออะไร ทำไมต้องมี และก่อนหน้านี้ทำงานกันแบบไหน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 · ปูบริบท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ระบบวางบิล OBS คืออะไร</a:t>
            </a:r>
            <a:endParaRPr lang="en-US" sz="3000" dirty="0"/>
          </a:p>
        </p:txBody>
      </p:sp>
      <p:pic>
        <p:nvPicPr>
          <p:cNvPr id="4" name="Image 0" descr="/private/tmp/claude-501/-Users-cutemark-Desktop-outsource-auto/c9418d35-07ec-440b-9fb8-2360d5ee2185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84048"/>
            <a:ext cx="1170432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58368" y="1517904"/>
            <a:ext cx="10874959" cy="1170432"/>
          </a:xfrm>
          <a:prstGeom prst="roundRect">
            <a:avLst>
              <a:gd name="adj" fmla="val 4688"/>
            </a:avLst>
          </a:prstGeom>
          <a:solidFill>
            <a:srgbClr val="EAF4FD"/>
          </a:solidFill>
          <a:ln w="12700">
            <a:solidFill>
              <a:srgbClr val="C9E2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42416" y="170078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3A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เครื่องมือภายในฝ่ายบัญชี iPassion สำหรับวางบิลค่าจ้างพนักงาน Outsource ที่ไปประจำที่ออฟฟิศลูกค้า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42416" y="212140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รับช่วงงานตั้งแต่อีเมลแจ้งอนุมัติ Timesheet เข้ามา จนถึงร่างใบวางบิลและร่างอีเมลวางไว้ให้ — เหลือให้คนทำเพียง ตรวจ · กดอนุมัติ · กดส่ง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" y="2962656"/>
            <a:ext cx="3442106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9264" y="3236976"/>
            <a:ext cx="438912" cy="438912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11" name="Image 1" descr="/private/tmp/claude-501/-Users-cutemark-Desktop-outsource-auto/c9418d35-07ec-440b-9fb8-2360d5ee2185/scratchpad/deck/asset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70" y="3355482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264" y="3803904"/>
            <a:ext cx="2820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สร้างเพื่อใคร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969264" y="4133088"/>
            <a:ext cx="28203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ฝ่ายบัญชี iPassion ที่ทำงานวางบิลรายเดือน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แบ่งสิทธิ์ 2 ระดับ — admin และ operator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74794" y="2962656"/>
            <a:ext cx="3442106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85690" y="3236976"/>
            <a:ext cx="438912" cy="438912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16" name="Image 2" descr="/private/tmp/claude-501/-Users-cutemark-Desktop-outsource-auto/c9418d35-07ec-440b-9fb8-2360d5ee2185/scratchpad/deck/assets/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197" y="3355482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85690" y="3803904"/>
            <a:ext cx="2820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เริ่มกับใคร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685690" y="4133088"/>
            <a:ext cx="28203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ไทยประกันชีวิต (มหาชน)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ใบว่าจ้าง 26/B0113 · โครงการ BAU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 2 คน · สัญญา 6 เดือน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091221" y="2962656"/>
            <a:ext cx="3442106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402117" y="3236976"/>
            <a:ext cx="438912" cy="438912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1" name="Image 3" descr="/private/tmp/claude-501/-Users-cutemark-Desktop-outsource-auto/c9418d35-07ec-440b-9fb8-2360d5ee2185/scratchpad/deck/asset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623" y="3355482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02117" y="3803904"/>
            <a:ext cx="2820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ขยายต่อได้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402117" y="4133088"/>
            <a:ext cx="28203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ออกแบบให้รองรับหลายลูกค้าและหลายสัญญา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ไม่ได้ผูกกับลูกค้ารายเดียว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58368" y="5358384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3A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หลักการที่คุมทั้งระบบ   “ระบบเตรียมเอกสารให้เสร็จ แต่ไม่ตัดสินใจแทนคน — ทุกใบยังต้องมีคนตรวจและกดเอง”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 · ปูบริบท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ก่อนมีระบบ  เทียบกับ  หลังมีระบบ</a:t>
            </a:r>
            <a:endParaRPr lang="en-US" sz="3000" dirty="0"/>
          </a:p>
        </p:txBody>
      </p:sp>
      <p:pic>
        <p:nvPicPr>
          <p:cNvPr id="4" name="Image 0" descr="/private/tmp/claude-501/-Users-cutemark-Desktop-outsource-auto/c9418d35-07ec-440b-9fb8-2360d5ee2185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84048"/>
            <a:ext cx="1170432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58368" y="1572768"/>
            <a:ext cx="5245456" cy="3986784"/>
          </a:xfrm>
          <a:prstGeom prst="roundRect">
            <a:avLst>
              <a:gd name="adj" fmla="val 1376"/>
            </a:avLst>
          </a:prstGeom>
          <a:solidFill>
            <a:srgbClr val="F7F8FA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9264" y="1828800"/>
            <a:ext cx="420624" cy="420624"/>
          </a:xfrm>
          <a:prstGeom prst="ellipse">
            <a:avLst/>
          </a:prstGeom>
          <a:solidFill>
            <a:srgbClr val="9AA7B6"/>
          </a:solidFill>
          <a:ln/>
        </p:spPr>
      </p:sp>
      <p:pic>
        <p:nvPicPr>
          <p:cNvPr id="8" name="Image 1" descr="/private/tmp/claude-501/-Users-cutemark-Desktop-outsource-auto/c9418d35-07ec-440b-9fb8-2360d5ee2185/scratchpad/deck/assets/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832" y="1942368"/>
            <a:ext cx="193487" cy="1934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6192" y="1828800"/>
            <a:ext cx="405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563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ก่อนหน้านี้ — ทำด้วยมือทั้งหมด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1042416" y="2606040"/>
            <a:ext cx="100584" cy="100584"/>
          </a:xfrm>
          <a:prstGeom prst="ellipse">
            <a:avLst/>
          </a:prstGeom>
          <a:solidFill>
            <a:srgbClr val="B4BEC8"/>
          </a:solidFill>
          <a:ln/>
        </p:spPr>
      </p:sp>
      <p:sp>
        <p:nvSpPr>
          <p:cNvPr id="11" name="Text 7"/>
          <p:cNvSpPr/>
          <p:nvPr/>
        </p:nvSpPr>
        <p:spPr>
          <a:xfrm>
            <a:off x="1298448" y="2487168"/>
            <a:ext cx="427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เปิดอีเมลหาไฟล์ Timesheet ทีละฉบับเอง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042416" y="3090672"/>
            <a:ext cx="100584" cy="100584"/>
          </a:xfrm>
          <a:prstGeom prst="ellipse">
            <a:avLst/>
          </a:prstGeom>
          <a:solidFill>
            <a:srgbClr val="B4BEC8"/>
          </a:solidFill>
          <a:ln/>
        </p:spPr>
      </p:sp>
      <p:sp>
        <p:nvSpPr>
          <p:cNvPr id="13" name="Text 9"/>
          <p:cNvSpPr/>
          <p:nvPr/>
        </p:nvSpPr>
        <p:spPr>
          <a:xfrm>
            <a:off x="1298448" y="2971800"/>
            <a:ext cx="427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อ่านตัวเลขในไฟล์ PDF แล้วพิมพ์ลง Excel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042416" y="3575304"/>
            <a:ext cx="100584" cy="100584"/>
          </a:xfrm>
          <a:prstGeom prst="ellipse">
            <a:avLst/>
          </a:prstGeom>
          <a:solidFill>
            <a:srgbClr val="B4BEC8"/>
          </a:solidFill>
          <a:ln/>
        </p:spPr>
      </p:sp>
      <p:sp>
        <p:nvSpPr>
          <p:cNvPr id="15" name="Text 11"/>
          <p:cNvSpPr/>
          <p:nvPr/>
        </p:nvSpPr>
        <p:spPr>
          <a:xfrm>
            <a:off x="1298448" y="3456432"/>
            <a:ext cx="427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นับวันทำงาน–วันลา เทียบปฏิทินด้วยมือ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1042416" y="4059936"/>
            <a:ext cx="100584" cy="100584"/>
          </a:xfrm>
          <a:prstGeom prst="ellipse">
            <a:avLst/>
          </a:prstGeom>
          <a:solidFill>
            <a:srgbClr val="B4BEC8"/>
          </a:solidFill>
          <a:ln/>
        </p:spPr>
      </p:sp>
      <p:sp>
        <p:nvSpPr>
          <p:cNvPr id="17" name="Text 13"/>
          <p:cNvSpPr/>
          <p:nvPr/>
        </p:nvSpPr>
        <p:spPr>
          <a:xfrm>
            <a:off x="1298448" y="3941064"/>
            <a:ext cx="427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 VAT และหัก ณ ที่จ่ายเองในไฟล์แยก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1042416" y="4544568"/>
            <a:ext cx="100584" cy="100584"/>
          </a:xfrm>
          <a:prstGeom prst="ellipse">
            <a:avLst/>
          </a:prstGeom>
          <a:solidFill>
            <a:srgbClr val="B4BEC8"/>
          </a:solidFill>
          <a:ln/>
        </p:spPr>
      </p:sp>
      <p:sp>
        <p:nvSpPr>
          <p:cNvPr id="19" name="Text 15"/>
          <p:cNvSpPr/>
          <p:nvPr/>
        </p:nvSpPr>
        <p:spPr>
          <a:xfrm>
            <a:off x="1298448" y="4425696"/>
            <a:ext cx="427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คีย์ใบวางบิลเข้า FlowAccount ใหม่ทั้งใบ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1042416" y="5029200"/>
            <a:ext cx="100584" cy="100584"/>
          </a:xfrm>
          <a:prstGeom prst="ellipse">
            <a:avLst/>
          </a:prstGeom>
          <a:solidFill>
            <a:srgbClr val="B4BEC8"/>
          </a:solidFill>
          <a:ln/>
        </p:spPr>
      </p:sp>
      <p:sp>
        <p:nvSpPr>
          <p:cNvPr id="21" name="Text 17"/>
          <p:cNvSpPr/>
          <p:nvPr/>
        </p:nvSpPr>
        <p:spPr>
          <a:xfrm>
            <a:off x="1298448" y="4910328"/>
            <a:ext cx="427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7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พิมพ์อีเมลวางบิลเองทุกเดือน แนบไฟล์เอง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287872" y="1572768"/>
            <a:ext cx="5245456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98768" y="182880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4" name="Image 2" descr="/private/tmp/claude-501/-Users-cutemark-Desktop-outsource-auto/c9418d35-07ec-440b-9fb8-2360d5ee2185/scratchpad/deck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336" y="1942368"/>
            <a:ext cx="193487" cy="19348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65696" y="1828800"/>
            <a:ext cx="405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3A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OBS — ระบบเตรียมให้ คนตรวจและกด</a:t>
            </a:r>
            <a:endParaRPr lang="en-US" sz="1450" dirty="0"/>
          </a:p>
        </p:txBody>
      </p:sp>
      <p:sp>
        <p:nvSpPr>
          <p:cNvPr id="26" name="Shape 21"/>
          <p:cNvSpPr/>
          <p:nvPr/>
        </p:nvSpPr>
        <p:spPr>
          <a:xfrm>
            <a:off x="6671920" y="2606040"/>
            <a:ext cx="100584" cy="10058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7" name="Text 22"/>
          <p:cNvSpPr/>
          <p:nvPr/>
        </p:nvSpPr>
        <p:spPr>
          <a:xfrm>
            <a:off x="6927952" y="2487168"/>
            <a:ext cx="427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n8n จับอีเมลให้เอง ดึงไฟล์แนบเข้าระบบ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671920" y="3090672"/>
            <a:ext cx="100584" cy="10058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9" name="Text 24"/>
          <p:cNvSpPr/>
          <p:nvPr/>
        </p:nvSpPr>
        <p:spPr>
          <a:xfrm>
            <a:off x="6927952" y="2971800"/>
            <a:ext cx="427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ในเครื่องอ่าน PDF ออกมาเป็นข้อมูล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671920" y="3575304"/>
            <a:ext cx="100584" cy="10058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1" name="Text 26"/>
          <p:cNvSpPr/>
          <p:nvPr/>
        </p:nvSpPr>
        <p:spPr>
          <a:xfrm>
            <a:off x="6927952" y="3456432"/>
            <a:ext cx="427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ระบบเทียบปฏิทินวันหยุดและตรวจให้ 6 ข้อ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6671920" y="4059936"/>
            <a:ext cx="100584" cy="10058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3" name="Text 28"/>
          <p:cNvSpPr/>
          <p:nvPr/>
        </p:nvSpPr>
        <p:spPr>
          <a:xfrm>
            <a:off x="6927952" y="3941064"/>
            <a:ext cx="427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คำนวณตามสูตรที่ยืนยันกับใบจริงแล้ว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6671920" y="4544568"/>
            <a:ext cx="100584" cy="10058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5" name="Text 30"/>
          <p:cNvSpPr/>
          <p:nvPr/>
        </p:nvSpPr>
        <p:spPr>
          <a:xfrm>
            <a:off x="6927952" y="4425696"/>
            <a:ext cx="427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กดปุ่มเดียว สร้างเป็นร่างใน FlowAccount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6671920" y="5029200"/>
            <a:ext cx="100584" cy="10058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7" name="Text 32"/>
          <p:cNvSpPr/>
          <p:nvPr/>
        </p:nvSpPr>
        <p:spPr>
          <a:xfrm>
            <a:off x="6927952" y="4910328"/>
            <a:ext cx="427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ร่างอีเมลพร้อมไฟล์แนบครบ 3 ใบ รอกดส่ง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658368" y="5797296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สิ่งที่เปลี่ยนจริง — งานคีย์ข้อมูลและงานคำนวณย้ายไปอยู่กับระบบ  ส่วนการตัดสินใจยังอยู่กับคนเหมือนเดิม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 · ปูบริบท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ระบบนี้สร้างขึ้นด้วยอะไร</a:t>
            </a:r>
            <a:endParaRPr lang="en-US" sz="3000" dirty="0"/>
          </a:p>
        </p:txBody>
      </p:sp>
      <p:pic>
        <p:nvPicPr>
          <p:cNvPr id="4" name="Image 0" descr="/private/tmp/claude-501/-Users-cutemark-Desktop-outsource-auto/c9418d35-07ec-440b-9fb8-2360d5ee2185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84048"/>
            <a:ext cx="1170432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58368" y="1591056"/>
            <a:ext cx="344210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0976" y="1865376"/>
            <a:ext cx="420624" cy="420624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8" name="Image 1" descr="/private/tmp/claude-501/-Users-cutemark-Desktop-outsource-auto/c9418d35-07ec-440b-9fb8-2360d5ee2185/scratchpad/deck/asset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44" y="1978944"/>
            <a:ext cx="193487" cy="1934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865376"/>
            <a:ext cx="23448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Node.js 22.5+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50976" y="23774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เขียนด้วย JavaScript ล้วน ไม่ใช้ framework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หน้าเว็บไม่มี build step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74794" y="1591056"/>
            <a:ext cx="344210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67402" y="1865376"/>
            <a:ext cx="420624" cy="420624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13" name="Image 2" descr="/private/tmp/claude-501/-Users-cutemark-Desktop-outsource-auto/c9418d35-07ec-440b-9fb8-2360d5ee2185/scratchpad/deck/asset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971" y="1978944"/>
            <a:ext cx="193487" cy="1934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97754" y="1865376"/>
            <a:ext cx="23448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SQLite (node:sqlite)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667402" y="23774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ฐานข้อมูลมากับ Node ไม่ต้องติดตั้งเพิ่ม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 dependency ภายนอกตัวเดียวทั้งโปรเจค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091221" y="1591056"/>
            <a:ext cx="344210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83829" y="1865376"/>
            <a:ext cx="420624" cy="420624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18" name="Image 3" descr="/private/tmp/claude-501/-Users-cutemark-Desktop-outsource-auto/c9418d35-07ec-440b-9fb8-2360d5ee2185/scratchpad/deck/asset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397" y="1978944"/>
            <a:ext cx="193487" cy="19348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14181" y="1865376"/>
            <a:ext cx="23448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รันในเครื่อง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383829" y="23774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LM Studio / Ollama อ่าน PDF และร่างอีเมล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ข้อมูลเงินเดือนไม่ออกนอกองค์กร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58368" y="3291840"/>
            <a:ext cx="344210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50976" y="3566160"/>
            <a:ext cx="420624" cy="420624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23" name="Image 4" descr="/private/tmp/claude-501/-Users-cutemark-Desktop-outsource-auto/c9418d35-07ec-440b-9fb8-2360d5ee2185/scratchpad/deck/assets/z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544" y="3679728"/>
            <a:ext cx="193487" cy="19348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81328" y="3566160"/>
            <a:ext cx="23448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n8n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50976" y="4078224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ตัวจุดชนวนและตั้งเวลา — จับอีเมลเข้า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และตรวจรอบบิลทุกวันทำการ 09:00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374794" y="3291840"/>
            <a:ext cx="344210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667402" y="3566160"/>
            <a:ext cx="420624" cy="420624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28" name="Image 5" descr="/private/tmp/claude-501/-Users-cutemark-Desktop-outsource-auto/c9418d35-07ec-440b-9fb8-2360d5ee2185/scratchpad/deck/assets/ser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971" y="3679728"/>
            <a:ext cx="193487" cy="19348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97754" y="3566160"/>
            <a:ext cx="23448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FlowAccount API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667402" y="4078224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สร้างเอกสารเป็น “ร่าง” เท่านั้น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และดึงไฟล์ PDF ใบวางบิลกลับมาเก็บ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091221" y="3291840"/>
            <a:ext cx="344210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383829" y="3566160"/>
            <a:ext cx="420624" cy="420624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33" name="Image 6" descr="/private/tmp/claude-501/-Users-cutemark-Desktop-outsource-auto/c9418d35-07ec-440b-9fb8-2360d5ee2185/scratchpad/deck/assets/ms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7397" y="3679728"/>
            <a:ext cx="193487" cy="19348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914181" y="3566160"/>
            <a:ext cx="23448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+ Gmail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383829" y="4078224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ส่งขออนุมัติเข้าแชท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Gmail ดึงอีเมลเข้าและวางร่างอีเมลออก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58368" y="5029200"/>
            <a:ext cx="10874959" cy="786384"/>
          </a:xfrm>
          <a:prstGeom prst="roundRect">
            <a:avLst>
              <a:gd name="adj" fmla="val 6977"/>
            </a:avLst>
          </a:prstGeom>
          <a:solidFill>
            <a:srgbClr val="EAF4FD"/>
          </a:solidFill>
          <a:ln w="12700">
            <a:solidFill>
              <a:srgbClr val="C9E2F7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969264" y="5212080"/>
            <a:ext cx="420624" cy="420624"/>
          </a:xfrm>
          <a:prstGeom prst="ellipse">
            <a:avLst/>
          </a:prstGeom>
          <a:solidFill>
            <a:srgbClr val="083A63"/>
          </a:solidFill>
          <a:ln/>
        </p:spPr>
      </p:sp>
      <p:pic>
        <p:nvPicPr>
          <p:cNvPr id="38" name="Image 7" descr="/private/tmp/claude-501/-Users-cutemark-Desktop-outsource-auto/c9418d35-07ec-440b-9fb8-2360d5ee2185/scratchpad/deck/assets/l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832" y="5325648"/>
            <a:ext cx="193487" cy="193487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536192" y="521208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3A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ทำไมเลือกแบบนี้ — AI ทั้งหมดรันในเครื่อง ไม่ต้องมี API key และข้อมูลค่าจ้างไม่ถูกส่งออกไปนอกบริษัท  ·  กฎการคิดเงินมีชุดทดสอบคุม 120 ข้อ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cutemark-Desktop-outsource-auto/c9418d35-07ec-440b-9fb8-2360d5ee2185/scratchpad/deck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84048"/>
            <a:ext cx="1170432" cy="3749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2395728"/>
            <a:ext cx="786384" cy="786384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4" name="Image 1" descr="/private/tmp/claude-501/-Users-cutemark-Desktop-outsource-auto/c9418d35-07ec-440b-9fb8-2360d5ee2185/scratchpad/deck/assets/refre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692" y="2608052"/>
            <a:ext cx="361737" cy="3617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92224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FB4E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1792224" y="274320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 &amp; การทำงาน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1792224" y="352958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D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เส้นทางของงานหนึ่งรอบบิล และจุดที่คนต้องลงมือ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 · ขั้นตอน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เส้นทางการทำงาน 1 รอบบิล</a:t>
            </a:r>
            <a:endParaRPr lang="en-US" sz="3000" dirty="0"/>
          </a:p>
        </p:txBody>
      </p:sp>
      <p:pic>
        <p:nvPicPr>
          <p:cNvPr id="4" name="Image 0" descr="/private/tmp/claude-501/-Users-cutemark-Desktop-outsource-auto/c9418d35-07ec-440b-9fb8-2360d5ee2185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84048"/>
            <a:ext cx="1170432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58368" y="1828800"/>
            <a:ext cx="1926275" cy="2304288"/>
          </a:xfrm>
          <a:prstGeom prst="roundRect">
            <a:avLst>
              <a:gd name="adj" fmla="val 284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56330" y="2048256"/>
            <a:ext cx="530352" cy="530352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8" name="Image 1" descr="/private/tmp/claude-501/-Users-cutemark-Desktop-outsource-auto/c9418d35-07ec-440b-9fb8-2360d5ee2185/scratchpad/deck/assets/m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525" y="2191451"/>
            <a:ext cx="243962" cy="2439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706624"/>
            <a:ext cx="19262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1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58368" y="2944368"/>
            <a:ext cx="1926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รับเข้า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04672" y="32918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อีเมลแจ้งอนุมัติ Timesheet เข้ามา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n8n ดึงไฟล์แนบส่งเข้าระบบ</a:t>
            </a:r>
            <a:endParaRPr lang="en-US" sz="1100" dirty="0"/>
          </a:p>
        </p:txBody>
      </p:sp>
      <p:pic>
        <p:nvPicPr>
          <p:cNvPr id="12" name="Image 2" descr="/private/tmp/claude-501/-Users-cutemark-Desktop-outsource-auto/c9418d35-07ec-440b-9fb8-2360d5ee2185/scratchpad/deck/asset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507" y="2798064"/>
            <a:ext cx="201168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895539" y="1828800"/>
            <a:ext cx="1926275" cy="2304288"/>
          </a:xfrm>
          <a:prstGeom prst="roundRect">
            <a:avLst>
              <a:gd name="adj" fmla="val 284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593501" y="2048256"/>
            <a:ext cx="530352" cy="530352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15" name="Image 3" descr="/private/tmp/claude-501/-Users-cutemark-Desktop-outsource-auto/c9418d35-07ec-440b-9fb8-2360d5ee2185/scratchpad/deck/asset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696" y="2191451"/>
            <a:ext cx="243962" cy="2439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895539" y="2706624"/>
            <a:ext cx="19262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2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2895539" y="2944368"/>
            <a:ext cx="1926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อ่านไฟล์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3041843" y="32918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 vision ในเครื่องอ่าน PDF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แล้วโค้ดตรวจซ้ำอีกชั้น</a:t>
            </a:r>
            <a:endParaRPr lang="en-US" sz="1100" dirty="0"/>
          </a:p>
        </p:txBody>
      </p:sp>
      <p:pic>
        <p:nvPicPr>
          <p:cNvPr id="19" name="Image 4" descr="/private/tmp/claude-501/-Users-cutemark-Desktop-outsource-auto/c9418d35-07ec-440b-9fb8-2360d5ee2185/scratchpad/deck/asset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678" y="2798064"/>
            <a:ext cx="201168" cy="20116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132710" y="1828800"/>
            <a:ext cx="1926275" cy="2304288"/>
          </a:xfrm>
          <a:prstGeom prst="roundRect">
            <a:avLst>
              <a:gd name="adj" fmla="val 284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5830672" y="2048256"/>
            <a:ext cx="530352" cy="530352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22" name="Image 5" descr="/private/tmp/claude-501/-Users-cutemark-Desktop-outsource-auto/c9418d35-07ec-440b-9fb8-2360d5ee2185/scratchpad/deck/assets/check-sq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3867" y="2191451"/>
            <a:ext cx="243962" cy="24396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32710" y="2706624"/>
            <a:ext cx="19262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3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5132710" y="2944368"/>
            <a:ext cx="1926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Manday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5279014" y="32918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เทียบปฏิทินวันหยุด นับวันลา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คิดส่วนลดและตรวจให้ 6 ข้อ</a:t>
            </a:r>
            <a:endParaRPr lang="en-US" sz="1100" dirty="0"/>
          </a:p>
        </p:txBody>
      </p:sp>
      <p:pic>
        <p:nvPicPr>
          <p:cNvPr id="26" name="Image 6" descr="/private/tmp/claude-501/-Users-cutemark-Desktop-outsource-auto/c9418d35-07ec-440b-9fb8-2360d5ee2185/scratchpad/deck/assets/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3849" y="2798064"/>
            <a:ext cx="201168" cy="20116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369881" y="1828800"/>
            <a:ext cx="1926275" cy="2304288"/>
          </a:xfrm>
          <a:prstGeom prst="roundRect">
            <a:avLst>
              <a:gd name="adj" fmla="val 284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8067843" y="2048256"/>
            <a:ext cx="530352" cy="530352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29" name="Image 7" descr="/private/tmp/claude-501/-Users-cutemark-Desktop-outsource-auto/c9418d35-07ec-440b-9fb8-2360d5ee2185/scratchpad/deck/assets/fi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1038" y="2191451"/>
            <a:ext cx="243962" cy="24396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369881" y="2706624"/>
            <a:ext cx="19262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4</a:t>
            </a:r>
            <a:endParaRPr lang="en-US" sz="1050" dirty="0"/>
          </a:p>
        </p:txBody>
      </p:sp>
      <p:sp>
        <p:nvSpPr>
          <p:cNvPr id="31" name="Text 21"/>
          <p:cNvSpPr/>
          <p:nvPr/>
        </p:nvSpPr>
        <p:spPr>
          <a:xfrm>
            <a:off x="7369881" y="2944368"/>
            <a:ext cx="1926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วางบิล</a:t>
            </a:r>
            <a:endParaRPr lang="en-US" sz="1450" dirty="0"/>
          </a:p>
        </p:txBody>
      </p:sp>
      <p:sp>
        <p:nvSpPr>
          <p:cNvPr id="32" name="Text 22"/>
          <p:cNvSpPr/>
          <p:nvPr/>
        </p:nvSpPr>
        <p:spPr>
          <a:xfrm>
            <a:off x="7516185" y="32918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ประกอบใบวางบิล VAT / หัก ณ ที่จ่าย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สร้างเป็นร่างใน FlowAccount</a:t>
            </a:r>
            <a:endParaRPr lang="en-US" sz="1100" dirty="0"/>
          </a:p>
        </p:txBody>
      </p:sp>
      <p:pic>
        <p:nvPicPr>
          <p:cNvPr id="33" name="Image 8" descr="/private/tmp/claude-501/-Users-cutemark-Desktop-outsource-auto/c9418d35-07ec-440b-9fb8-2360d5ee2185/scratchpad/deck/assets/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1020" y="2798064"/>
            <a:ext cx="201168" cy="201168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9607052" y="1828800"/>
            <a:ext cx="1926275" cy="2304288"/>
          </a:xfrm>
          <a:prstGeom prst="roundRect">
            <a:avLst>
              <a:gd name="adj" fmla="val 284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10305014" y="2048256"/>
            <a:ext cx="530352" cy="530352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36" name="Image 9" descr="/private/tmp/claude-501/-Users-cutemark-Desktop-outsource-auto/c9418d35-07ec-440b-9fb8-2360d5ee2185/scratchpad/deck/assets/sen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8209" y="2191451"/>
            <a:ext cx="243962" cy="24396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9607052" y="2706624"/>
            <a:ext cx="19262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5</a:t>
            </a:r>
            <a:endParaRPr lang="en-US" sz="1050" dirty="0"/>
          </a:p>
        </p:txBody>
      </p:sp>
      <p:sp>
        <p:nvSpPr>
          <p:cNvPr id="38" name="Text 26"/>
          <p:cNvSpPr/>
          <p:nvPr/>
        </p:nvSpPr>
        <p:spPr>
          <a:xfrm>
            <a:off x="9607052" y="2944368"/>
            <a:ext cx="1926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ร่างอีเมล</a:t>
            </a:r>
            <a:endParaRPr lang="en-US" sz="1450" dirty="0"/>
          </a:p>
        </p:txBody>
      </p:sp>
      <p:sp>
        <p:nvSpPr>
          <p:cNvPr id="39" name="Text 27"/>
          <p:cNvSpPr/>
          <p:nvPr/>
        </p:nvSpPr>
        <p:spPr>
          <a:xfrm>
            <a:off x="9753356" y="32918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ร่างอีเมลถึงลูกค้า แนบ PDF ครบ 3 ใบ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วางไว้ในกล่อง Drafts</a:t>
            </a:r>
            <a:endParaRPr lang="en-US" sz="1100" dirty="0"/>
          </a:p>
        </p:txBody>
      </p:sp>
      <p:sp>
        <p:nvSpPr>
          <p:cNvPr id="40" name="Shape 28"/>
          <p:cNvSpPr/>
          <p:nvPr/>
        </p:nvSpPr>
        <p:spPr>
          <a:xfrm>
            <a:off x="658368" y="4407408"/>
            <a:ext cx="10874959" cy="1316736"/>
          </a:xfrm>
          <a:prstGeom prst="roundRect">
            <a:avLst>
              <a:gd name="adj" fmla="val 4167"/>
            </a:avLst>
          </a:prstGeom>
          <a:solidFill>
            <a:srgbClr val="EAF4FD"/>
          </a:solidFill>
          <a:ln w="12700">
            <a:solidFill>
              <a:srgbClr val="C9E2F7"/>
            </a:solidFill>
            <a:prstDash val="solid"/>
          </a:ln>
        </p:spPr>
      </p:sp>
      <p:sp>
        <p:nvSpPr>
          <p:cNvPr id="41" name="Text 29"/>
          <p:cNvSpPr/>
          <p:nvPr/>
        </p:nvSpPr>
        <p:spPr>
          <a:xfrm>
            <a:off x="1042416" y="45720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3A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ข้อมูลไหลทางเดียว — ทุกขั้นบันทึกไว้ทั้งหมด</a:t>
            </a:r>
            <a:endParaRPr lang="en-US" sz="1350" dirty="0"/>
          </a:p>
        </p:txBody>
      </p:sp>
      <p:sp>
        <p:nvSpPr>
          <p:cNvPr id="42" name="Text 30"/>
          <p:cNvSpPr/>
          <p:nvPr/>
        </p:nvSpPr>
        <p:spPr>
          <a:xfrm>
            <a:off x="1042416" y="4937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5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ทุกการกระทำถูกเก็บใน audit log พร้อมชื่อคนที่กดและเวลา  ·  ไฟล์ Timesheet ต้นฉบับและไฟล์ใบวางบิลเก็บไว้ในระบบ เปิดดูย้อนหลังได้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 · ขั้นตอน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จุดที่คนต้องกดยืนยัน — 3 ประตู</a:t>
            </a:r>
            <a:endParaRPr lang="en-US" sz="3000" dirty="0"/>
          </a:p>
        </p:txBody>
      </p:sp>
      <p:pic>
        <p:nvPicPr>
          <p:cNvPr id="4" name="Image 0" descr="/private/tmp/claude-501/-Users-cutemark-Desktop-outsource-auto/c9418d35-07ec-440b-9fb8-2360d5ee2185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84048"/>
            <a:ext cx="1170432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58368" y="13167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ระบบหยุดรอคนทุกครั้ง ไม่มีขั้นไหนเดินต่อเองโดยไม่มีคนกด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1773936"/>
            <a:ext cx="10874959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24128" y="212140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9" name="Image 1" descr="/private/tmp/claude-501/-Users-cutemark-Desktop-outsource-auto/c9418d35-07ec-440b-9fb8-2360d5ee2185/scratchpad/deck/assets/check-s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10" y="224979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82496" y="1956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99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ประตูที่ 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682496" y="2212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ยืนยันผลที่ AI อ่านได้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687568" y="1975104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 AI อ่าน Timesheet เสร็จ คนต้องเปิดดูตัวเลขที่อ่านมาได้ แก้ถ้าผิด แล้วกดยืนยันบันทึกเข้าระบบ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682496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99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 “อัปโหลด Timesheet” และ “ตรวจ Manday”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58368" y="3145536"/>
            <a:ext cx="10874959" cy="1170432"/>
          </a:xfrm>
          <a:prstGeom prst="roundRect">
            <a:avLst>
              <a:gd name="adj" fmla="val 4688"/>
            </a:avLst>
          </a:prstGeom>
          <a:solidFill>
            <a:srgbClr val="F2FAF8"/>
          </a:solidFill>
          <a:ln w="12700">
            <a:solidFill>
              <a:srgbClr val="CCE9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24128" y="349300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6" name="Image 2" descr="/private/tmp/claude-501/-Users-cutemark-Desktop-outsource-auto/c9418d35-07ec-440b-9fb8-2360d5ee2185/scratchpad/deck/assets/ms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10" y="362139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82496" y="33284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99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ประตูที่ 2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682496" y="3584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อนุมัติวางบิล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687568" y="3346704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ระบบส่งสรุปรอบบิลเข้า LINE พร้อมยอดรับชำระ กดปุ่มแล้วเปิดหน้าระบบเพื่อดูตัวเลขเต็มก่อนตัดสินใจ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682496" y="3950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99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 LINE → หน้า “วางบิล &amp; ร่างอีเมล”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58368" y="4517136"/>
            <a:ext cx="10874959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24128" y="486460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3" name="Image 3" descr="/private/tmp/claude-501/-Users-cutemark-Desktop-outsource-auto/c9418d35-07ec-440b-9fb8-2360d5ee2185/scratchpad/deck/assets/s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10" y="4992990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82496" y="4700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99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ประตูที่ 3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682496" y="49560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ตรวจร่างอีเมลแล้วกดส่ง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687568" y="4718304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ระบบวางร่างอีเมลพร้อมไฟล์แนบไว้ในกล่อง Drafts ของ Gmail — คนอ่านทวนแล้วกดส่งเอง ระบบไม่ส่งเอง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682496" y="5321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99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 Drafts ใน Gmail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58368" y="5870448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83A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ถ้าไม่มีคนกด งานจะค้างอยู่ตรงนั้น — ระบบจะเตือนเข้า LINE ว่ามีอะไรรออยู่ ไม่ข้ามไปเอง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 · ขั้นตอน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n8n กับ AI รับผิดชอบอะไร</a:t>
            </a:r>
            <a:endParaRPr lang="en-US" sz="3000" dirty="0"/>
          </a:p>
        </p:txBody>
      </p:sp>
      <p:pic>
        <p:nvPicPr>
          <p:cNvPr id="4" name="Image 0" descr="/private/tmp/claude-501/-Users-cutemark-Desktop-outsource-auto/c9418d35-07ec-440b-9fb8-2360d5ee2185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84048"/>
            <a:ext cx="1170432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58368" y="1554480"/>
            <a:ext cx="5245456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9264" y="1810512"/>
            <a:ext cx="457200" cy="457200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8" name="Image 1" descr="/private/tmp/claude-501/-Users-cutemark-Desktop-outsource-auto/c9418d35-07ec-440b-9fb8-2360d5ee2185/scratchpad/deck/asset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1933956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2768" y="1810512"/>
            <a:ext cx="402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n8n — ตัวจุดชนวนและตั้งเวลา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1042416" y="2596896"/>
            <a:ext cx="91440" cy="91440"/>
          </a:xfrm>
          <a:prstGeom prst="ellipse">
            <a:avLst/>
          </a:prstGeom>
          <a:solidFill>
            <a:srgbClr val="0078D3"/>
          </a:solidFill>
          <a:ln/>
        </p:spPr>
      </p:sp>
      <p:sp>
        <p:nvSpPr>
          <p:cNvPr id="11" name="Text 7"/>
          <p:cNvSpPr/>
          <p:nvPr/>
        </p:nvSpPr>
        <p:spPr>
          <a:xfrm>
            <a:off x="1280160" y="2487168"/>
            <a:ext cx="428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Gmail Trigger จับอีเมลแจ้งอนุมัติที่เข้ามา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1042416" y="3026664"/>
            <a:ext cx="91440" cy="91440"/>
          </a:xfrm>
          <a:prstGeom prst="ellipse">
            <a:avLst/>
          </a:prstGeom>
          <a:solidFill>
            <a:srgbClr val="0078D3"/>
          </a:solidFill>
          <a:ln/>
        </p:spPr>
      </p:sp>
      <p:sp>
        <p:nvSpPr>
          <p:cNvPr id="13" name="Text 9"/>
          <p:cNvSpPr/>
          <p:nvPr/>
        </p:nvSpPr>
        <p:spPr>
          <a:xfrm>
            <a:off x="1280160" y="2916936"/>
            <a:ext cx="428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กรองเฉพาะฉบับที่สถานะเป็น “อนุมัติ”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042416" y="3456432"/>
            <a:ext cx="91440" cy="91440"/>
          </a:xfrm>
          <a:prstGeom prst="ellipse">
            <a:avLst/>
          </a:prstGeom>
          <a:solidFill>
            <a:srgbClr val="0078D3"/>
          </a:solidFill>
          <a:ln/>
        </p:spPr>
      </p:sp>
      <p:sp>
        <p:nvSpPr>
          <p:cNvPr id="15" name="Text 11"/>
          <p:cNvSpPr/>
          <p:nvPr/>
        </p:nvSpPr>
        <p:spPr>
          <a:xfrm>
            <a:off x="1280160" y="3346704"/>
            <a:ext cx="428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ดึงไฟล์แนบส่งเข้า API ของ OBS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42416" y="3886200"/>
            <a:ext cx="91440" cy="91440"/>
          </a:xfrm>
          <a:prstGeom prst="ellipse">
            <a:avLst/>
          </a:prstGeom>
          <a:solidFill>
            <a:srgbClr val="0078D3"/>
          </a:solidFill>
          <a:ln/>
        </p:spPr>
      </p:sp>
      <p:sp>
        <p:nvSpPr>
          <p:cNvPr id="17" name="Text 13"/>
          <p:cNvSpPr/>
          <p:nvPr/>
        </p:nvSpPr>
        <p:spPr>
          <a:xfrm>
            <a:off x="1280160" y="3776472"/>
            <a:ext cx="428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อ่านค่า nextAction ที่ระบบตอบกลับ แล้วแตกทาง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1042416" y="4315968"/>
            <a:ext cx="91440" cy="91440"/>
          </a:xfrm>
          <a:prstGeom prst="ellipse">
            <a:avLst/>
          </a:prstGeom>
          <a:solidFill>
            <a:srgbClr val="0078D3"/>
          </a:solidFill>
          <a:ln/>
        </p:spPr>
      </p:sp>
      <p:sp>
        <p:nvSpPr>
          <p:cNvPr id="19" name="Text 15"/>
          <p:cNvSpPr/>
          <p:nvPr/>
        </p:nvSpPr>
        <p:spPr>
          <a:xfrm>
            <a:off x="1280160" y="4206240"/>
            <a:ext cx="428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Schedule Trigger ทุกวันทำการ 09:00 เช็ครอบที่พร้อมวางบิล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87872" y="1554480"/>
            <a:ext cx="5245456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98768" y="1810512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2" name="Image 2" descr="/private/tmp/claude-501/-Users-cutemark-Desktop-outsource-auto/c9418d35-07ec-440b-9fb8-2360d5ee2185/scratchpad/deck/asset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212" y="1933956"/>
            <a:ext cx="210312" cy="2103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02272" y="1810512"/>
            <a:ext cx="402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ในเครื่อง — อ่านและเรียบเรียง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6671920" y="2596896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5" name="Text 20"/>
          <p:cNvSpPr/>
          <p:nvPr/>
        </p:nvSpPr>
        <p:spPr>
          <a:xfrm>
            <a:off x="6909664" y="2487168"/>
            <a:ext cx="428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 vision อ่าน Timesheet PDF ออกมาเป็นข้อมูล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671920" y="3026664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7" name="Text 22"/>
          <p:cNvSpPr/>
          <p:nvPr/>
        </p:nvSpPr>
        <p:spPr>
          <a:xfrm>
            <a:off x="6909664" y="2916936"/>
            <a:ext cx="428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อ่านชื่อที่กำกับข้างลายเซ็นไว้ไขว้ตรวจกับหัวเอกสาร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671920" y="3456432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9" name="Text 24"/>
          <p:cNvSpPr/>
          <p:nvPr/>
        </p:nvSpPr>
        <p:spPr>
          <a:xfrm>
            <a:off x="6909664" y="3346704"/>
            <a:ext cx="428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ช่องไหนอ่านไม่ชัดให้ตอบ null ห้ามเดา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671920" y="3886200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1" name="Text 26"/>
          <p:cNvSpPr/>
          <p:nvPr/>
        </p:nvSpPr>
        <p:spPr>
          <a:xfrm>
            <a:off x="6909664" y="3776472"/>
            <a:ext cx="428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เรียบเรียงอีเมลวางบิลจากตัวเลขที่ระบบคำนวณไว้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671920" y="4315968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3" name="Text 28"/>
          <p:cNvSpPr/>
          <p:nvPr/>
        </p:nvSpPr>
        <p:spPr>
          <a:xfrm>
            <a:off x="6909664" y="4206240"/>
            <a:ext cx="428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ไม่ตัดสินใจเรื่องเงิน — คำนวณทั้งหมดอยู่ในโค้ด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658368" y="4974336"/>
            <a:ext cx="10874959" cy="859536"/>
          </a:xfrm>
          <a:prstGeom prst="roundRect">
            <a:avLst>
              <a:gd name="adj" fmla="val 6383"/>
            </a:avLst>
          </a:prstGeom>
          <a:solidFill>
            <a:srgbClr val="EAF4FD"/>
          </a:solidFill>
          <a:ln w="12700">
            <a:solidFill>
              <a:srgbClr val="C9E2F7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42416" y="5102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A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เส้นแบ่งความรับผิดชอบ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1042416" y="53949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n8n เป็นตัวจุดชนวน · AI เป็นตัวอ่านและเรียบเรียงภาษา · กฎการคิดเงินทั้งหมดอยู่ใน OBS และมีชุดทดสอบคุมไว้ — n8n กับ AI ไม่ต้องรู้กฎเลย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cutemark-Desktop-outsource-auto/c9418d35-07ec-440b-9fb8-2360d5ee2185/scratchpad/deck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84048"/>
            <a:ext cx="1170432" cy="3749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2395728"/>
            <a:ext cx="786384" cy="786384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4" name="Image 1" descr="/private/tmp/claude-501/-Users-cutemark-Desktop-outsource-auto/c9418d35-07ec-440b-9fb8-2360d5ee2185/scratchpad/deck/asset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692" y="2608052"/>
            <a:ext cx="361737" cy="3617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92224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FB4E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1792224" y="274320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แผนงานถัดไป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1792224" y="352958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D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ทำเสร็จไปแค่ไหน อะไรยังค้าง และเสนอทำอะไรต่อ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 · แผนงานถัดไป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สถานะตอนนี้</a:t>
            </a:r>
            <a:endParaRPr lang="en-US" sz="3000" dirty="0"/>
          </a:p>
        </p:txBody>
      </p:sp>
      <p:pic>
        <p:nvPicPr>
          <p:cNvPr id="4" name="Image 0" descr="/private/tmp/claude-501/-Users-cutemark-Desktop-outsource-auto/c9418d35-07ec-440b-9fb8-2360d5ee2185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84048"/>
            <a:ext cx="1170432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58368" y="1517904"/>
            <a:ext cx="3200400" cy="2286000"/>
          </a:xfrm>
          <a:prstGeom prst="roundRect">
            <a:avLst>
              <a:gd name="adj" fmla="val 2400"/>
            </a:avLst>
          </a:prstGeom>
          <a:solidFill>
            <a:srgbClr val="083A63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773936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/ 14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58368" y="2670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รายการที่ทำเสร็จแล้ว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42416" y="3127248"/>
            <a:ext cx="2432304" cy="182880"/>
          </a:xfrm>
          <a:prstGeom prst="roundRect">
            <a:avLst>
              <a:gd name="adj" fmla="val 50000"/>
            </a:avLst>
          </a:prstGeom>
          <a:solidFill>
            <a:srgbClr val="11588F"/>
          </a:solidFill>
          <a:ln/>
        </p:spPr>
      </p:sp>
      <p:sp>
        <p:nvSpPr>
          <p:cNvPr id="10" name="Shape 7"/>
          <p:cNvSpPr/>
          <p:nvPr/>
        </p:nvSpPr>
        <p:spPr>
          <a:xfrm>
            <a:off x="1042416" y="3127248"/>
            <a:ext cx="1563624" cy="182880"/>
          </a:xfrm>
          <a:prstGeom prst="roundRect">
            <a:avLst>
              <a:gd name="adj" fmla="val 50000"/>
            </a:avLst>
          </a:prstGeom>
          <a:solidFill>
            <a:srgbClr val="4FA9E8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3401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5D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คิดเป็น 64% ของงานทั้งหมด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87952" y="1517904"/>
            <a:ext cx="7345375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62272" y="1737360"/>
            <a:ext cx="402336" cy="402336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4" name="Image 1" descr="/private/tmp/claude-501/-Users-cutemark-Desktop-outsource-auto/c9418d35-07ec-440b-9fb8-2360d5ee2185/scratchpad/deck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903" y="1845991"/>
            <a:ext cx="185075" cy="1850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74336" y="17373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ใช้งานได้แล้ว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4480560" y="2386584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7" name="Text 13"/>
          <p:cNvSpPr/>
          <p:nvPr/>
        </p:nvSpPr>
        <p:spPr>
          <a:xfrm>
            <a:off x="4700016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อ่าน Timesheet PDF ในเครื่อง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480560" y="2679192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9" name="Text 15"/>
          <p:cNvSpPr/>
          <p:nvPr/>
        </p:nvSpPr>
        <p:spPr>
          <a:xfrm>
            <a:off x="4700016" y="2596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Manday + ปฏิทินวันหยุด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480560" y="2971800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1" name="Text 17"/>
          <p:cNvSpPr/>
          <p:nvPr/>
        </p:nvSpPr>
        <p:spPr>
          <a:xfrm>
            <a:off x="4700016" y="2889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จับคู่ชื่อพนักงาน 3 ชั้น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480560" y="3264408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3" name="Text 19"/>
          <p:cNvSpPr/>
          <p:nvPr/>
        </p:nvSpPr>
        <p:spPr>
          <a:xfrm>
            <a:off x="4700016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 VAT / หัก ณ ที่จ่าย ตรงใบจริง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80560" y="3557016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5" name="Text 21"/>
          <p:cNvSpPr/>
          <p:nvPr/>
        </p:nvSpPr>
        <p:spPr>
          <a:xfrm>
            <a:off x="4700016" y="3474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สร้างร่างใน FlowAccount (sandbox)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284464" y="2386584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7" name="Text 23"/>
          <p:cNvSpPr/>
          <p:nvPr/>
        </p:nvSpPr>
        <p:spPr>
          <a:xfrm>
            <a:off x="8503920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ร่างอีเมล + แนบ PDF ครบ 3 ไฟล์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284464" y="2679192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9" name="Text 25"/>
          <p:cNvSpPr/>
          <p:nvPr/>
        </p:nvSpPr>
        <p:spPr>
          <a:xfrm>
            <a:off x="8503920" y="2596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ขออนุมัติผ่าน LINE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284464" y="2971800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1" name="Text 27"/>
          <p:cNvSpPr/>
          <p:nvPr/>
        </p:nvSpPr>
        <p:spPr>
          <a:xfrm>
            <a:off x="8503920" y="2889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n8n 2 trigger — อีเมลเข้า + ตรวจรายวัน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8284464" y="3264408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3" name="Text 29"/>
          <p:cNvSpPr/>
          <p:nvPr/>
        </p:nvSpPr>
        <p:spPr>
          <a:xfrm>
            <a:off x="8503920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Login รายบุคคล + audit log ทุกการกระทำ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658368" y="4023360"/>
            <a:ext cx="10874959" cy="1883664"/>
          </a:xfrm>
          <a:prstGeom prst="roundRect">
            <a:avLst>
              <a:gd name="adj" fmla="val 2913"/>
            </a:avLst>
          </a:prstGeom>
          <a:solidFill>
            <a:srgbClr val="FFF8EC"/>
          </a:solidFill>
          <a:ln w="12700">
            <a:solidFill>
              <a:srgbClr val="F0DCBC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69264" y="4206240"/>
            <a:ext cx="402336" cy="402336"/>
          </a:xfrm>
          <a:prstGeom prst="ellipse">
            <a:avLst/>
          </a:prstGeom>
          <a:solidFill>
            <a:srgbClr val="B26A00"/>
          </a:solidFill>
          <a:ln/>
        </p:spPr>
      </p:sp>
      <p:pic>
        <p:nvPicPr>
          <p:cNvPr id="36" name="Image 2" descr="/private/tmp/claude-501/-Users-cutemark-Desktop-outsource-auto/c9418d35-07ec-440b-9fb8-2360d5ee2185/scratchpad/deck/asset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95" y="4314871"/>
            <a:ext cx="185075" cy="185075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481328" y="420624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C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เหลืออีก 5 เรื่อง — ส่วนใหญ่รอข้อมูลยืนยันจากลูกค้าและฝ่ายบัญชี ไม่ใช่งานเขียนโปรแกรม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1481328" y="471830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2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ยืนยันตัวหารอัตราต่อวัน  —  ต้องขอใบแจ้งหนี้อีกเดือนที่วันทำงานไม่ใช่ 20 วัน มาเทียบ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1481328" y="494690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2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ยืนยันปฏิทินวันหยุดกับลูกค้า  —  กระทบวันทำงานมาตรฐานโดยตรง ตอนนี้ใช้วันหยุดราชการทั่วไป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1481328" y="517550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2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ยืนยันเงื่อนไขประเภทการลา  —  ลาป่วย ลากิจ ลาพักร้อน หักเงินเท่ากันหมดหรือไม่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1481328" y="540410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2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ตรวจตัวเลขที่ FlowAccount ออกให้  —  พบว่ายอดหัก ณ ที่จ่ายและส่วนลดในใบที่ออกมายังไม่ตรงกับที่ระบบคำนวณ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1481328" y="563270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2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เปิดโหมด live  —  ตอนนี้ยังเป็น sandbox — เปิดจริงได้เมื่อ 4 ข้อบนเคลียร์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 · แผนงานถัดไป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ฟีเจอร์ที่เสนอทำต่อ</a:t>
            </a:r>
            <a:endParaRPr lang="en-US" sz="3000" dirty="0"/>
          </a:p>
        </p:txBody>
      </p:sp>
      <p:pic>
        <p:nvPicPr>
          <p:cNvPr id="4" name="Image 0" descr="/private/tmp/claude-501/-Users-cutemark-Desktop-outsource-auto/c9418d35-07ec-440b-9fb8-2360d5ee2185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84048"/>
            <a:ext cx="1170432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84687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58368" y="1554480"/>
            <a:ext cx="5272888" cy="1719072"/>
          </a:xfrm>
          <a:prstGeom prst="roundRect">
            <a:avLst>
              <a:gd name="adj" fmla="val 3191"/>
            </a:avLst>
          </a:prstGeom>
          <a:solidFill>
            <a:srgbClr val="EAF4FD"/>
          </a:solidFill>
          <a:ln w="12700">
            <a:solidFill>
              <a:srgbClr val="C9E2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9264" y="1847088"/>
            <a:ext cx="457200" cy="457200"/>
          </a:xfrm>
          <a:prstGeom prst="ellipse">
            <a:avLst/>
          </a:prstGeom>
          <a:solidFill>
            <a:srgbClr val="0078D3"/>
          </a:solidFill>
          <a:ln/>
        </p:spPr>
      </p:sp>
      <p:pic>
        <p:nvPicPr>
          <p:cNvPr id="8" name="Image 1" descr="/private/tmp/claude-501/-Users-cutemark-Desktop-outsource-auto/c9418d35-07ec-440b-9fb8-2360d5ee2185/scratchpad/deck/assets/up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1970532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2768" y="1792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78D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ลำดับที่ 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572768" y="2029968"/>
            <a:ext cx="404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เพิ่มบริษัทและพนักงานจากไฟล์อัตโนมัติ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969264" y="2450592"/>
            <a:ext cx="4651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ทันทีที่ระบบเจอชื่อลูกค้าหรือพนักงานใหม่ในไฟล์ที่นำเข้า ให้เสนอสร้างข้อมูลหลักให้เลย เหลือแค่กดยืนยันและเติมเรท — ไม่ต้องไปคีย์ที่หน้าข้อมูลหลักก่อน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60440" y="1554480"/>
            <a:ext cx="5272888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71336" y="1847088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4" name="Image 2" descr="/private/tmp/claude-501/-Users-cutemark-Desktop-outsource-auto/c9418d35-07ec-440b-9fb8-2360d5ee2185/scratchpad/deck/assets/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780" y="1970532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74840" y="1792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99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ลำดับที่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174840" y="2029968"/>
            <a:ext cx="404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 AI เรียนรู้ชื่อพ้องเองเมื่อคนแก้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571336" y="2450592"/>
            <a:ext cx="4651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ตอนนี้ระบบจำชื่อพ้องได้เมื่อคนเพิ่มให้ ต่อไปให้จำอัตโนมัติทุกครั้งที่คนแก้ผลที่ AI อ่านมา ยิ่งใช้ยิ่งจับคู่แม่นขึ้น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58368" y="3511296"/>
            <a:ext cx="5272888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69264" y="3803904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0" name="Image 3" descr="/private/tmp/claude-501/-Users-cutemark-Desktop-outsource-auto/c9418d35-07ec-440b-9fb8-2360d5ee2185/scratchpad/deck/asset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" y="3927348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72768" y="3749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99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ลำดับที่ 3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572768" y="3986784"/>
            <a:ext cx="404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รองรับหลายลูกค้าพร้อมกันเต็มรูปแบบ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69264" y="4407408"/>
            <a:ext cx="4651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โครงสร้างรองรับแล้ว เหลือปรับหน้าจอให้สลับดูทีละลูกค้าได้สะดวก และแยกรอบบิลของแต่ละสัญญาให้ชัด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60440" y="3511296"/>
            <a:ext cx="5272888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71336" y="3803904"/>
            <a:ext cx="457200" cy="457200"/>
          </a:xfrm>
          <a:prstGeom prst="ellipse">
            <a:avLst/>
          </a:prstGeom>
          <a:solidFill>
            <a:srgbClr val="B26A00"/>
          </a:solidFill>
          <a:ln/>
        </p:spPr>
      </p:sp>
      <p:pic>
        <p:nvPicPr>
          <p:cNvPr id="26" name="Image 4" descr="/private/tmp/claude-501/-Users-cutemark-Desktop-outsource-auto/c9418d35-07ec-440b-9fb8-2360d5ee2185/scratchpad/deck/assets/trend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780" y="3927348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74840" y="3749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6A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ลำดับที่ 4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7174840" y="3986784"/>
            <a:ext cx="404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สรุปให้ผู้บริหารรายเดือน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6571336" y="4407408"/>
            <a:ext cx="4651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ส่งสรุปยอดวางบิล ยอดค้าง และงานที่ติดอยู่เข้า LINE อัตโนมัติทุกต้นเดือน โดยไม่ต้องเปิดระบบมาดูเอง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658368" y="5614416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83A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ทุกฟีเจอร์ข้างบนยังคงหลักการเดิม — ระบบเสนอให้ แต่คนเป็นคนกดยืนยัน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cutemark-Desktop-outsource-auto/c9418d35-07ec-440b-9fb8-2360d5ee2185/scratchpad/deck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1700784" cy="539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FB4E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สรุปสั้นๆ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58368" y="2487168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งานคีย์ข้อมูลและงานคำนวณย้ายไปอยู่กับระบบ</a:t>
            </a:r>
            <a:endParaRPr lang="en-US" sz="3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การตัดสินใจยังอยู่กับคนทุกขั้น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58368" y="4224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9C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เสร็จแล้ว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8368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จาก 14 รายการ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858768" y="4224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9C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ตอนนี้อยู่ที่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58768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 sandbox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059168" y="4224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9C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รอเคลียร์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059168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เรื่อง ส่วนใหญ่รอข้อมูล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8368" y="5943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9C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ระบบวางบิล Outsource อัตโนมัติ (OBS)   ·   ฝ่ายบัญชี iPassion Co., Ltd.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ระบบวางบิล Outsource อัตโนมัติ (OBS)</dc:title>
  <dc:subject>PptxGenJS Presentation</dc:subject>
  <dc:creator>iPassion Co., Ltd.</dc:creator>
  <cp:lastModifiedBy>iPassion Co., Ltd.</cp:lastModifiedBy>
  <cp:revision>1</cp:revision>
  <dcterms:created xsi:type="dcterms:W3CDTF">2026-08-06T16:35:41Z</dcterms:created>
  <dcterms:modified xsi:type="dcterms:W3CDTF">2026-08-06T16:35:41Z</dcterms:modified>
</cp:coreProperties>
</file>